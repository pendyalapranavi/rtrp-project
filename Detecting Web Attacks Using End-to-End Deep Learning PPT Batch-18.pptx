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7" r:id="rId3"/>
    <p:sldId id="258" r:id="rId4"/>
    <p:sldId id="259" r:id="rId5"/>
    <p:sldId id="276" r:id="rId6"/>
    <p:sldId id="260" r:id="rId7"/>
    <p:sldId id="273" r:id="rId8"/>
    <p:sldId id="261" r:id="rId9"/>
    <p:sldId id="262" r:id="rId10"/>
    <p:sldId id="263" r:id="rId11"/>
    <p:sldId id="277" r:id="rId12"/>
    <p:sldId id="264" r:id="rId13"/>
    <p:sldId id="265" r:id="rId14"/>
    <p:sldId id="266" r:id="rId15"/>
    <p:sldId id="267" r:id="rId16"/>
    <p:sldId id="272" r:id="rId17"/>
    <p:sldId id="271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2" r:id="rId30"/>
    <p:sldId id="268" r:id="rId31"/>
    <p:sldId id="293" r:id="rId32"/>
    <p:sldId id="270" r:id="rId33"/>
    <p:sldId id="2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7B856-8AD5-4CB9-9E2F-396E2EFF564D}" v="39" dt="2026-03-27T15:03:51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5" autoAdjust="0"/>
    <p:restoredTop sz="94660"/>
  </p:normalViewPr>
  <p:slideViewPr>
    <p:cSldViewPr snapToGrid="0">
      <p:cViewPr varScale="1">
        <p:scale>
          <a:sx n="49" d="100"/>
          <a:sy n="49" d="100"/>
        </p:scale>
        <p:origin x="67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1CEC-4B87-0C77-3FE9-2BC80EDE9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3B64C-28BF-9277-F757-9950E89C7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9CA0B-E833-3943-01D4-404FB847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F945-60BF-1B4D-79C4-C2A8515EE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BBAEA-1F32-4F30-9557-DD5FE057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75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0A05-D074-2819-0E10-C172FFF70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D1D6-C2BF-47EB-8E87-5DC6A0884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907A0-66DB-7974-0CAC-E17C2A97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CC7C-6C42-29F0-5FA7-8EDCEF33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215EC-770C-D805-3CBB-6FBE9E38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33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16B4-4DDD-8596-FD19-CA28BEA8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A2DFC-2457-2631-8ECB-F00750232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A0F58-48CE-C898-6D64-653116E8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C65E0-016F-6E6C-0F9A-78283DB70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BDEC5-8506-A2A0-CDAE-EA72DEE6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069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699E-7A18-3731-C62D-77FD318C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C7913-24A8-489C-2CD4-CE0AB106A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8EADA-1079-C419-7BA3-671CBE434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BF8E3-B94D-5244-54A2-47A42F4F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6DB9E-2B38-94F8-17EA-2A88E78C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1F83A-DA6C-6832-E5C5-A86A5759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610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494D-B73D-E042-A169-8D27D46E2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B6318-ADCE-5F14-6399-7DB4F24E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FC52A-524E-7858-8716-19FDD437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02E59-873E-FA9C-67C2-7F25A018B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8AD16-AF19-3CF6-5902-001EE8A5C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603EC-CBD4-F450-4C8B-AE31C96C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6AC14-3868-DBE5-57DA-1EB8D49C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153B3-2153-A240-6592-FC88C95A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260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C2ED-6314-D16B-71CD-83932D83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E4088-F2D5-1759-F479-4CB51091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9C9CF-E33F-E2BF-5309-C0D0627C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8B99-6844-C9A0-91AA-D0B556B7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306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C7EE0-5E93-2B06-93FC-C14CC77D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41B10F-3A2C-9678-D164-9137828D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945EB-585D-0C23-4858-EBEA2699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6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59F8A-F74B-1638-C5D0-4916120F6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D745D-4337-C831-1751-48C4E3CC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55BE8-6101-5FC5-FD59-98C07C84B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7E0B3-4BA3-BBBA-C818-DB71AB628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573FA-19E8-539C-106C-2885A7FA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713B5-43E5-719A-0058-64C1C9764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07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1550-357D-5CF6-277C-53748259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FAAE-1A14-C4DF-FA6E-B339EC8ED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19BB5-2E64-ED55-44CC-BB38659F5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E3E87-7651-8E62-235A-31D4C79CC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52A13-66A6-1CD1-79A5-A8142AEF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C62B6-E4BD-AE6A-96C4-95EEB617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99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4FF0-4A07-B4E5-C574-FCF5D9BE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81C8B-C7E6-6CF1-04D8-A7DA607C3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C9494-A9DE-0978-4E77-74C0E775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A5E71-BB1E-8658-29F5-2213EB31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F69C6-AF11-391A-FC90-98C14617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33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AA3DEB-CEE8-C2CA-0F18-000C27535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7D206-F5BA-A821-8CD3-2EE156E55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EB4C8-6DBB-F3AD-449D-1DD408AE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D604A-1202-D92D-FF06-58EEC563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83F0F-9661-9B62-D18D-66BACF2C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6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E4C9FD-B35E-6718-17F2-F1C76834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C649B-FEF8-F77A-CE02-8C662A242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66DF1-9C24-4E16-D02B-85308D728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D2FD2-4D93-4710-AD78-184373390DE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4CEAC-666E-5B4B-5F65-37D28BE44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CCEE-2FD6-3006-24E8-FD8F3F945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43A88-C559-4E7F-8AFE-FEB1D31BA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116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77CB-AA7D-E1D2-1A95-F9FC7C58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206" y="191729"/>
            <a:ext cx="7423355" cy="824579"/>
          </a:xfrm>
        </p:spPr>
        <p:txBody>
          <a:bodyPr>
            <a:normAutofit/>
          </a:bodyPr>
          <a:lstStyle/>
          <a:p>
            <a:pPr algn="ctr"/>
            <a:r>
              <a:rPr lang="en-IN" sz="2000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</a:t>
            </a:r>
            <a:r>
              <a:rPr lang="en-IN" sz="2000" spc="-60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25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en-IN" sz="2000" spc="-150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rgbClr val="70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03925-BAC4-46C8-3282-4812A79F1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890" y="1016308"/>
            <a:ext cx="11710220" cy="5338916"/>
          </a:xfrm>
        </p:spPr>
        <p:txBody>
          <a:bodyPr/>
          <a:lstStyle/>
          <a:p>
            <a:pPr marL="701040" indent="0" algn="ctr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1800" dirty="0">
                <a:solidFill>
                  <a:srgbClr val="FF0000"/>
                </a:solidFill>
                <a:latin typeface="Times New Roman"/>
                <a:cs typeface="Times New Roman"/>
              </a:rPr>
              <a:t>UGC</a:t>
            </a:r>
            <a:r>
              <a:rPr lang="en-US" sz="18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AUTONOMOUS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1545"/>
              </a:spcBef>
              <a:buNone/>
            </a:pPr>
            <a:r>
              <a:rPr lang="en-US" sz="1800" b="1" dirty="0">
                <a:latin typeface="Times New Roman"/>
                <a:cs typeface="Times New Roman"/>
              </a:rPr>
              <a:t>Accredited</a:t>
            </a:r>
            <a:r>
              <a:rPr lang="en-US" sz="1800" b="1" spc="-1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by</a:t>
            </a:r>
            <a:r>
              <a:rPr lang="en-US" sz="1800" b="1" spc="-1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NBA</a:t>
            </a:r>
            <a:r>
              <a:rPr lang="en-US" sz="1800" b="1" spc="-5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&amp;</a:t>
            </a:r>
            <a:r>
              <a:rPr lang="en-US" sz="1800" b="1" spc="-1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NAAC</a:t>
            </a:r>
            <a:r>
              <a:rPr lang="en-US" sz="1800" b="1" spc="5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with</a:t>
            </a:r>
            <a:r>
              <a:rPr lang="en-US" sz="1800" b="1" spc="-8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A</a:t>
            </a:r>
            <a:r>
              <a:rPr lang="en-US" sz="1800" b="1" spc="-65" dirty="0">
                <a:latin typeface="Times New Roman"/>
                <a:cs typeface="Times New Roman"/>
              </a:rPr>
              <a:t> </a:t>
            </a:r>
            <a:r>
              <a:rPr lang="en-US" sz="1800" b="1" spc="-20" dirty="0">
                <a:latin typeface="Times New Roman"/>
                <a:cs typeface="Times New Roman"/>
              </a:rPr>
              <a:t>Grade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359"/>
              </a:spcBef>
              <a:buNone/>
            </a:pPr>
            <a:r>
              <a:rPr lang="en-US" sz="1800" b="1" dirty="0">
                <a:latin typeface="Times New Roman"/>
                <a:cs typeface="Times New Roman"/>
              </a:rPr>
              <a:t>Approved</a:t>
            </a:r>
            <a:r>
              <a:rPr lang="en-US" sz="1800" b="1" spc="-1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by</a:t>
            </a:r>
            <a:r>
              <a:rPr lang="en-US" sz="1800" b="1" spc="-6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AICTE,</a:t>
            </a:r>
            <a:r>
              <a:rPr lang="en-US" sz="1800" b="1" spc="1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New</a:t>
            </a:r>
            <a:r>
              <a:rPr lang="en-US" sz="1800" b="1" spc="-2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Delhi</a:t>
            </a:r>
            <a:r>
              <a:rPr lang="en-US" sz="1800" b="1" spc="-1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and</a:t>
            </a:r>
            <a:r>
              <a:rPr lang="en-US" sz="1800" b="1" spc="-7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Affiliated</a:t>
            </a:r>
            <a:r>
              <a:rPr lang="en-US" sz="1800" b="1" spc="-6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to</a:t>
            </a:r>
            <a:r>
              <a:rPr lang="en-US" sz="1800" b="1" spc="-2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JNTU, </a:t>
            </a:r>
            <a:r>
              <a:rPr lang="en-US" sz="1800" b="1" spc="-10" dirty="0">
                <a:latin typeface="Times New Roman"/>
                <a:cs typeface="Times New Roman"/>
              </a:rPr>
              <a:t>Hyderabad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1060"/>
              </a:spcBef>
              <a:buNone/>
            </a:pPr>
            <a:r>
              <a:rPr lang="en-US" sz="1800" b="1" dirty="0">
                <a:solidFill>
                  <a:srgbClr val="31833D"/>
                </a:solidFill>
                <a:latin typeface="Times New Roman"/>
                <a:cs typeface="Times New Roman"/>
              </a:rPr>
              <a:t>Department</a:t>
            </a:r>
            <a:r>
              <a:rPr lang="en-US" sz="1800" b="1" spc="85" dirty="0">
                <a:solidFill>
                  <a:srgbClr val="31833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31833D"/>
                </a:solidFill>
                <a:latin typeface="Times New Roman"/>
                <a:cs typeface="Times New Roman"/>
              </a:rPr>
              <a:t>of</a:t>
            </a:r>
            <a:r>
              <a:rPr lang="en-US" sz="1800" b="1" spc="65" dirty="0">
                <a:solidFill>
                  <a:srgbClr val="31833D"/>
                </a:solidFill>
                <a:latin typeface="Times New Roman"/>
                <a:cs typeface="Times New Roman"/>
              </a:rPr>
              <a:t> Computer Science and Engineering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buNone/>
            </a:pPr>
            <a:r>
              <a:rPr lang="en-US" sz="1800" b="1" spc="-10" dirty="0">
                <a:solidFill>
                  <a:srgbClr val="31833D"/>
                </a:solidFill>
                <a:latin typeface="Times New Roman"/>
                <a:cs typeface="Times New Roman"/>
              </a:rPr>
              <a:t>Review-</a:t>
            </a:r>
            <a:r>
              <a:rPr lang="en-US" sz="1800" b="1" spc="-10" dirty="0" err="1">
                <a:solidFill>
                  <a:srgbClr val="31833D"/>
                </a:solidFill>
                <a:latin typeface="Times New Roman"/>
                <a:cs typeface="Times New Roman"/>
              </a:rPr>
              <a:t>ll</a:t>
            </a:r>
            <a:endParaRPr lang="en-US" sz="1800" spc="-1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20"/>
              </a:spcBef>
              <a:buNone/>
            </a:pPr>
            <a:r>
              <a:rPr lang="en-US" sz="1800" b="1" dirty="0">
                <a:solidFill>
                  <a:srgbClr val="31833D"/>
                </a:solidFill>
                <a:latin typeface="Times New Roman"/>
                <a:cs typeface="Times New Roman"/>
              </a:rPr>
              <a:t>Real Time Research Project</a:t>
            </a:r>
          </a:p>
          <a:p>
            <a:pPr marL="1310640" marR="1388745" indent="0" algn="ctr">
              <a:lnSpc>
                <a:spcPct val="100000"/>
              </a:lnSpc>
              <a:buNone/>
            </a:pPr>
            <a:r>
              <a:rPr lang="en-US" sz="1800" b="1" spc="-25" dirty="0">
                <a:solidFill>
                  <a:srgbClr val="31833D"/>
                </a:solidFill>
                <a:latin typeface="Times New Roman"/>
                <a:cs typeface="Times New Roman"/>
              </a:rPr>
              <a:t>On</a:t>
            </a:r>
          </a:p>
          <a:p>
            <a:pPr marL="1310640" marR="1388745" indent="0" algn="ctr">
              <a:lnSpc>
                <a:spcPct val="100000"/>
              </a:lnSpc>
              <a:buNone/>
            </a:pPr>
            <a:r>
              <a:rPr lang="en-IN" sz="2400" b="1" dirty="0"/>
              <a:t>Detecting Web Attacks Using End to End Deep Learning </a:t>
            </a:r>
          </a:p>
          <a:p>
            <a:pPr marL="1310640" marR="1388745" indent="0" algn="ctr">
              <a:lnSpc>
                <a:spcPct val="100000"/>
              </a:lnSpc>
              <a:buNone/>
            </a:pPr>
            <a:endParaRPr lang="en-IN" sz="2400" b="1" dirty="0"/>
          </a:p>
          <a:p>
            <a:pPr marL="0" marR="3744595" indent="0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</a:t>
            </a:r>
            <a:r>
              <a:rPr lang="en-US" sz="24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4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Guidence</a:t>
            </a:r>
            <a:r>
              <a:rPr lang="en-US" sz="2400" spc="-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</a:t>
            </a:r>
            <a:endParaRPr lang="en-US" sz="2400" spc="-1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3744595" indent="0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24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Mrs.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Ch.Shital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400" spc="-1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3744595" indent="0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(Assistant</a:t>
            </a:r>
            <a:r>
              <a:rPr lang="en-US" sz="24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Professor)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0640" marR="1388745" indent="0" algn="ctr">
              <a:lnSpc>
                <a:spcPct val="100000"/>
              </a:lnSpc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91AFD-CAC8-8095-CB1C-F3774B65E863}"/>
              </a:ext>
            </a:extLst>
          </p:cNvPr>
          <p:cNvSpPr txBox="1"/>
          <p:nvPr/>
        </p:nvSpPr>
        <p:spPr>
          <a:xfrm>
            <a:off x="8937523" y="4508565"/>
            <a:ext cx="209427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Presented By:</a:t>
            </a:r>
          </a:p>
          <a:p>
            <a:r>
              <a:rPr lang="en-IN" sz="2400" dirty="0"/>
              <a:t>P Sri Nikitha </a:t>
            </a:r>
          </a:p>
          <a:p>
            <a:r>
              <a:rPr lang="en-IN" sz="2400" dirty="0"/>
              <a:t>B Tejasree</a:t>
            </a:r>
          </a:p>
          <a:p>
            <a:r>
              <a:rPr lang="en-IN" sz="2400" dirty="0"/>
              <a:t>P Pranavi </a:t>
            </a:r>
          </a:p>
          <a:p>
            <a:endParaRPr lang="en-IN" dirty="0"/>
          </a:p>
        </p:txBody>
      </p:sp>
      <p:pic>
        <p:nvPicPr>
          <p:cNvPr id="6" name="Picture 5" descr="cmr">
            <a:extLst>
              <a:ext uri="{FF2B5EF4-FFF2-40B4-BE49-F238E27FC236}">
                <a16:creationId xmlns:a16="http://schemas.microsoft.com/office/drawing/2014/main" id="{94F68CCA-FC2F-4FD5-A7F3-733563AB2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69" y="145609"/>
            <a:ext cx="1856899" cy="1464062"/>
          </a:xfrm>
          <a:prstGeom prst="rect">
            <a:avLst/>
          </a:prstGeom>
        </p:spPr>
      </p:pic>
      <p:pic>
        <p:nvPicPr>
          <p:cNvPr id="7" name="object 105">
            <a:extLst>
              <a:ext uri="{FF2B5EF4-FFF2-40B4-BE49-F238E27FC236}">
                <a16:creationId xmlns:a16="http://schemas.microsoft.com/office/drawing/2014/main" id="{2706CDBB-A5F0-5244-69D9-D4218412B6D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98745" y="422944"/>
            <a:ext cx="1608094" cy="118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50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07DC0-99D4-3A0E-CED2-2A252D1B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185" y="441325"/>
            <a:ext cx="10515600" cy="1325563"/>
          </a:xfrm>
        </p:spPr>
        <p:txBody>
          <a:bodyPr/>
          <a:lstStyle/>
          <a:p>
            <a:r>
              <a:rPr lang="en-IN" b="1" dirty="0"/>
              <a:t>Introduction</a:t>
            </a:r>
            <a:r>
              <a:rPr lang="en-IN" dirty="0"/>
              <a:t> 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AFB300-B424-55C3-E5D1-965892A523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5468" y="1318022"/>
            <a:ext cx="11179629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applications have grown rapidly in recent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growth has led to an increase in cyber attacks such as SQL injection, cross-site scripting, and denial-of-service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Security has become a major concern in today’s digital world.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security systems include rule-based and signature-based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systems depend on predefined patterns and manual feature extraction.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dependency limits their ability to detect new and evolving threats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proposes an end-to-end deep learning approach to address these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approach automatically learns patterns from web traffic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accurately classifies data as normal or malicious.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improves detection accuracy, reduces human effort, and enhances overall web application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650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4365C-6234-48E1-CA21-39181C30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86" y="-301626"/>
            <a:ext cx="10515600" cy="1325563"/>
          </a:xfrm>
        </p:spPr>
        <p:txBody>
          <a:bodyPr/>
          <a:lstStyle/>
          <a:p>
            <a:r>
              <a:rPr lang="en-IN" b="1" dirty="0"/>
              <a:t>Abstract</a:t>
            </a:r>
            <a:r>
              <a:rPr lang="en-IN" dirty="0"/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1F4CA-24E6-9E4D-10D2-9D486D3F0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747938"/>
            <a:ext cx="12143014" cy="6110061"/>
          </a:xfrm>
        </p:spPr>
        <p:txBody>
          <a:bodyPr>
            <a:normAutofit/>
          </a:bodyPr>
          <a:lstStyle/>
          <a:p>
            <a:r>
              <a:rPr lang="en-US" sz="2400" dirty="0"/>
              <a:t>The project titled </a:t>
            </a:r>
            <a:r>
              <a:rPr lang="en-US" sz="2400" i="1" dirty="0"/>
              <a:t>“Detecting Web Attacks with End-to-End Deep Learning”</a:t>
            </a:r>
            <a:r>
              <a:rPr lang="en-US" sz="2400" dirty="0"/>
              <a:t> aims to enhance cybersecurity by developing an intelligent system capable of identifying and classifying web-based attacks.</a:t>
            </a:r>
          </a:p>
          <a:p>
            <a:r>
              <a:rPr lang="en-US" sz="2400" dirty="0"/>
              <a:t> Traditional security methods such as rule-based and signature-based systems often fail to detect evolving threats, making automated solutions necessary.</a:t>
            </a:r>
          </a:p>
          <a:p>
            <a:r>
              <a:rPr lang="en-US" sz="2400" dirty="0"/>
              <a:t>This project uses deep learning </a:t>
            </a:r>
          </a:p>
          <a:p>
            <a:pPr marL="0" indent="0">
              <a:buNone/>
            </a:pPr>
            <a:r>
              <a:rPr lang="en-US" sz="2400" dirty="0"/>
              <a:t>models such as MLP , </a:t>
            </a:r>
            <a:r>
              <a:rPr lang="en-US" sz="2400" dirty="0" err="1"/>
              <a:t>Autoencoder,LSTM</a:t>
            </a:r>
            <a:r>
              <a:rPr lang="en-US" sz="2400" dirty="0"/>
              <a:t> to</a:t>
            </a:r>
          </a:p>
          <a:p>
            <a:pPr marL="0" indent="0">
              <a:buNone/>
            </a:pPr>
            <a:r>
              <a:rPr lang="en-US" sz="2400" dirty="0"/>
              <a:t> analyze web traffic data and  cyber attacks.</a:t>
            </a:r>
          </a:p>
          <a:p>
            <a:pPr marL="0" indent="0">
              <a:buNone/>
            </a:pPr>
            <a:r>
              <a:rPr lang="en-US" sz="2400" dirty="0"/>
              <a:t> It identifies anomalies , classifies threats </a:t>
            </a:r>
          </a:p>
          <a:p>
            <a:pPr marL="0" indent="0">
              <a:buNone/>
            </a:pPr>
            <a:r>
              <a:rPr lang="en-US" sz="2400" dirty="0"/>
              <a:t>Accurately , and adapts to new attack patterns</a:t>
            </a:r>
          </a:p>
          <a:p>
            <a:pPr marL="0" indent="0">
              <a:buNone/>
            </a:pPr>
            <a:r>
              <a:rPr lang="en-US" sz="2400" dirty="0"/>
              <a:t>in real time .</a:t>
            </a:r>
          </a:p>
          <a:p>
            <a:pPr marL="0" indent="0">
              <a:buNone/>
            </a:pPr>
            <a:r>
              <a:rPr lang="en-US" sz="2400" dirty="0"/>
              <a:t>By eliminating manual features engineering ,</a:t>
            </a:r>
          </a:p>
          <a:p>
            <a:pPr marL="0" indent="0">
              <a:buNone/>
            </a:pPr>
            <a:r>
              <a:rPr lang="en-US" sz="2400" dirty="0"/>
              <a:t>the system improves accuracy.</a:t>
            </a:r>
          </a:p>
          <a:p>
            <a:endParaRPr lang="en-IN" dirty="0"/>
          </a:p>
        </p:txBody>
      </p:sp>
      <p:pic>
        <p:nvPicPr>
          <p:cNvPr id="5" name="Picture 4" descr="DETECTING WEB ATTACKS WITH END-TO-END DEEP LEARNING Arun kumar.V1,M.  Vishwanthi2, V. Shirisha3, K. Priyanka 4 1 Assistant Profes">
            <a:extLst>
              <a:ext uri="{FF2B5EF4-FFF2-40B4-BE49-F238E27FC236}">
                <a16:creationId xmlns:a16="http://schemas.microsoft.com/office/drawing/2014/main" id="{8D7AC816-BDC2-4E02-BBA3-50107A04C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786" y="3543300"/>
            <a:ext cx="5742214" cy="3053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8997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5315C-AD08-C0A3-758D-C39416C2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9" y="0"/>
            <a:ext cx="10515600" cy="1325563"/>
          </a:xfrm>
        </p:spPr>
        <p:txBody>
          <a:bodyPr/>
          <a:lstStyle/>
          <a:p>
            <a:r>
              <a:rPr lang="en-IN" b="1" dirty="0"/>
              <a:t>Existing Systems </a:t>
            </a:r>
            <a:r>
              <a:rPr lang="en-IN" dirty="0"/>
              <a:t>: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90CAB338-BCCC-DE0C-8101-E7407B0F3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9" y="1230540"/>
            <a:ext cx="965018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Rule-based and signature-based intrusion detection systems (IDS)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traditional machine learning algorithms like SVM and Naïve Bayes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manual feature engineering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only known attack patterns </a:t>
            </a:r>
          </a:p>
        </p:txBody>
      </p:sp>
    </p:spTree>
    <p:extLst>
      <p:ext uri="{BB962C8B-B14F-4D97-AF65-F5344CB8AC3E}">
        <p14:creationId xmlns:p14="http://schemas.microsoft.com/office/powerpoint/2010/main" val="242429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A947B-BFFD-EBDB-94D3-58176EBD8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C32E-5B26-44E9-AF90-F199C5C4A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Large Data Requirement</a:t>
            </a:r>
          </a:p>
          <a:p>
            <a:r>
              <a:rPr lang="en-US" dirty="0"/>
              <a:t>Lack of Interpretability (Black Box Nature)</a:t>
            </a:r>
          </a:p>
          <a:p>
            <a:r>
              <a:rPr lang="en-IN" dirty="0"/>
              <a:t>High Computational Cost</a:t>
            </a:r>
          </a:p>
          <a:p>
            <a:r>
              <a:rPr lang="en-IN" dirty="0"/>
              <a:t>Slow Training and Deployment</a:t>
            </a:r>
          </a:p>
          <a:p>
            <a:r>
              <a:rPr lang="en-IN" dirty="0"/>
              <a:t>Overfitting Risk</a:t>
            </a:r>
          </a:p>
          <a:p>
            <a:r>
              <a:rPr lang="en-US" dirty="0"/>
              <a:t>Difficulty in Handling New (Zero-Day) Attacks</a:t>
            </a:r>
          </a:p>
          <a:p>
            <a:r>
              <a:rPr lang="en-IN" dirty="0"/>
              <a:t>7. Data Imbalance Problem</a:t>
            </a:r>
          </a:p>
        </p:txBody>
      </p:sp>
    </p:spTree>
    <p:extLst>
      <p:ext uri="{BB962C8B-B14F-4D97-AF65-F5344CB8AC3E}">
        <p14:creationId xmlns:p14="http://schemas.microsoft.com/office/powerpoint/2010/main" val="3991113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17F2-BE76-4898-9252-8A6A8CE19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515600" cy="1325563"/>
          </a:xfrm>
        </p:spPr>
        <p:txBody>
          <a:bodyPr/>
          <a:lstStyle/>
          <a:p>
            <a:r>
              <a:rPr lang="en-IN" b="1" dirty="0"/>
              <a:t>Proposed System 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DD5D74-1F4D-E029-055C-8C85F29700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643" y="874455"/>
            <a:ext cx="923201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Deep Learning based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Autoencoder and LSTM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 directly from raw web traffic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real-time and adaptive attack detection </a:t>
            </a:r>
          </a:p>
        </p:txBody>
      </p:sp>
    </p:spTree>
    <p:extLst>
      <p:ext uri="{BB962C8B-B14F-4D97-AF65-F5344CB8AC3E}">
        <p14:creationId xmlns:p14="http://schemas.microsoft.com/office/powerpoint/2010/main" val="1144322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5574-107D-71B8-F191-50DD14F8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3" y="229657"/>
            <a:ext cx="10515600" cy="1325563"/>
          </a:xfrm>
        </p:spPr>
        <p:txBody>
          <a:bodyPr/>
          <a:lstStyle/>
          <a:p>
            <a:r>
              <a:rPr lang="en-IN" b="1" dirty="0"/>
              <a:t>Problem Statement </a:t>
            </a:r>
            <a:r>
              <a:rPr lang="en-IN" dirty="0"/>
              <a:t>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73F4A9-DB44-B024-CD08-0F1544B1C2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3633" y="1176303"/>
            <a:ext cx="115951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Deep Learning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attack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web traffic directly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 manual feature extraction)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Autoencoder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anomaly (unknown attack)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sequential and time-based attack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 and detection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positives and false negatives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learning and adaptability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accurate, scalable, and automated security solution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7768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C396C-D611-5C90-BA9F-FA542B4F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</a:t>
            </a:r>
            <a:r>
              <a:rPr lang="en-IN" dirty="0"/>
              <a:t>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45C3B2-F487-9A71-AF88-21A79047C1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2257" y="1027906"/>
            <a:ext cx="850264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detection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 and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feature learning (no manual work)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Adapts to new and evolving threats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false positives and negatives </a:t>
            </a:r>
          </a:p>
        </p:txBody>
      </p:sp>
    </p:spTree>
    <p:extLst>
      <p:ext uri="{BB962C8B-B14F-4D97-AF65-F5344CB8AC3E}">
        <p14:creationId xmlns:p14="http://schemas.microsoft.com/office/powerpoint/2010/main" val="2209321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4C86-E8FF-C513-0CCF-E1CE69814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Hardware Requirements 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412915-38BD-3738-5894-BCF90E142F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4978" y="1480842"/>
            <a:ext cx="10902043" cy="4843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Processor: i3 or above </a:t>
            </a:r>
          </a:p>
          <a:p>
            <a:r>
              <a:rPr lang="en-IN" dirty="0"/>
              <a:t>RAM: 4 GB </a:t>
            </a:r>
          </a:p>
          <a:p>
            <a:r>
              <a:rPr lang="en-IN" dirty="0"/>
              <a:t>Hard Disk: 40 GB </a:t>
            </a:r>
          </a:p>
          <a:p>
            <a:pPr marL="0" indent="0">
              <a:buNone/>
            </a:pP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IN" sz="3600" b="1" dirty="0"/>
              <a:t>Software Requirements</a:t>
            </a:r>
          </a:p>
          <a:p>
            <a:r>
              <a:rPr lang="en-IN" dirty="0"/>
              <a:t>Operating System: Windows 8 or above </a:t>
            </a:r>
          </a:p>
          <a:p>
            <a:r>
              <a:rPr lang="en-IN" dirty="0"/>
              <a:t>Programming Language: Python </a:t>
            </a:r>
          </a:p>
          <a:p>
            <a:r>
              <a:rPr lang="en-IN" dirty="0"/>
              <a:t>Framework: Django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77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0C6F-3F14-F9EF-7C32-A91076C1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120197"/>
            <a:ext cx="10515600" cy="1325563"/>
          </a:xfrm>
        </p:spPr>
        <p:txBody>
          <a:bodyPr/>
          <a:lstStyle/>
          <a:p>
            <a:r>
              <a:rPr lang="en-IN" b="1" dirty="0"/>
              <a:t>Novelty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F986E8-C904-ABCD-486C-9B400C92F0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8343" y="1244595"/>
            <a:ext cx="1191383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learning without manual feature engineering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Combination of traditional ML and deep learning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adaptive cybersecurity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multi-dimensional web traffic data </a:t>
            </a:r>
          </a:p>
        </p:txBody>
      </p:sp>
    </p:spTree>
    <p:extLst>
      <p:ext uri="{BB962C8B-B14F-4D97-AF65-F5344CB8AC3E}">
        <p14:creationId xmlns:p14="http://schemas.microsoft.com/office/powerpoint/2010/main" val="1931011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9C20-EF33-3416-A8FA-53658C61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424A-2583-9BBC-BF2C-6BEA079C4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Collection Module</a:t>
            </a:r>
          </a:p>
          <a:p>
            <a:r>
              <a:rPr lang="en-IN" dirty="0"/>
              <a:t>Data Preprocessing Module</a:t>
            </a:r>
          </a:p>
          <a:p>
            <a:r>
              <a:rPr lang="en-US" dirty="0"/>
              <a:t>Feature Representation Module (End-to-End Input)</a:t>
            </a:r>
          </a:p>
          <a:p>
            <a:r>
              <a:rPr lang="en-IN" dirty="0"/>
              <a:t>Model Building Module</a:t>
            </a:r>
          </a:p>
          <a:p>
            <a:r>
              <a:rPr lang="en-IN" dirty="0"/>
              <a:t>Training Module</a:t>
            </a:r>
          </a:p>
          <a:p>
            <a:r>
              <a:rPr lang="en-IN" dirty="0"/>
              <a:t>Evaluation Module</a:t>
            </a:r>
          </a:p>
          <a:p>
            <a:r>
              <a:rPr lang="en-IN" dirty="0"/>
              <a:t>Attack Detection Module</a:t>
            </a:r>
          </a:p>
          <a:p>
            <a:r>
              <a:rPr lang="en-IN" dirty="0"/>
              <a:t>Alert &amp; Response Module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280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7097-728A-FFBD-CB89-D6A1B6BD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86" y="185510"/>
            <a:ext cx="10515600" cy="1325563"/>
          </a:xfrm>
        </p:spPr>
        <p:txBody>
          <a:bodyPr/>
          <a:lstStyle/>
          <a:p>
            <a:r>
              <a:rPr lang="en-IN" b="1" dirty="0"/>
              <a:t>Architecture Modules 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4F8B85-587E-40A9-958F-1AB18223B2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7869" y="557804"/>
            <a:ext cx="588654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Extraction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Detection/Classification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&amp; Response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 Module </a:t>
            </a:r>
          </a:p>
        </p:txBody>
      </p:sp>
      <p:pic>
        <p:nvPicPr>
          <p:cNvPr id="5" name="Picture 4" descr="PlantUML diagram">
            <a:extLst>
              <a:ext uri="{FF2B5EF4-FFF2-40B4-BE49-F238E27FC236}">
                <a16:creationId xmlns:a16="http://schemas.microsoft.com/office/drawing/2014/main" id="{72E2772F-E285-D885-0238-CA01CCDBF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43226"/>
            <a:ext cx="6049191" cy="437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5268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51D0-3B80-EA5D-4F29-FB66CFD0A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44" y="-100920"/>
            <a:ext cx="10515600" cy="1325563"/>
          </a:xfrm>
        </p:spPr>
        <p:txBody>
          <a:bodyPr/>
          <a:lstStyle/>
          <a:p>
            <a:r>
              <a:rPr lang="en-IN" b="1" dirty="0"/>
              <a:t>UML Diagram </a:t>
            </a:r>
            <a:r>
              <a:rPr lang="en-IN" dirty="0"/>
              <a:t>: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65EDD34-55B8-3F0B-8645-C91ACE2D9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0536" y="950323"/>
            <a:ext cx="10515599" cy="601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36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89D5-4CD2-984F-0254-FF4FBD4E4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66" y="0"/>
            <a:ext cx="10515600" cy="1325563"/>
          </a:xfrm>
        </p:spPr>
        <p:txBody>
          <a:bodyPr/>
          <a:lstStyle/>
          <a:p>
            <a:r>
              <a:rPr lang="en-IN" dirty="0"/>
              <a:t> </a:t>
            </a:r>
            <a:r>
              <a:rPr lang="en-IN" sz="2800" b="1" dirty="0"/>
              <a:t>sequence diagram</a:t>
            </a:r>
            <a:endParaRPr lang="en-IN" b="1" dirty="0"/>
          </a:p>
        </p:txBody>
      </p:sp>
      <p:pic>
        <p:nvPicPr>
          <p:cNvPr id="8" name="Content Placeholder 7" descr="PlantUML diagram">
            <a:extLst>
              <a:ext uri="{FF2B5EF4-FFF2-40B4-BE49-F238E27FC236}">
                <a16:creationId xmlns:a16="http://schemas.microsoft.com/office/drawing/2014/main" id="{B645B8D8-F518-D449-1AF7-0CBD06596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892" y="986631"/>
            <a:ext cx="8190548" cy="46674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8388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101A-AB6E-D0D5-95C6-5E2E6DFF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/>
              <a:t>Activity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BFFDC1-7670-995C-8827-7BA23F8C1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84" y="1288021"/>
            <a:ext cx="4617720" cy="493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78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lantUML diagram">
            <a:extLst>
              <a:ext uri="{FF2B5EF4-FFF2-40B4-BE49-F238E27FC236}">
                <a16:creationId xmlns:a16="http://schemas.microsoft.com/office/drawing/2014/main" id="{D596E1CE-2696-2A57-7585-1E097EE34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870" y="640080"/>
            <a:ext cx="3783330" cy="50709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71CEC0-78CE-C1EE-14DC-032B38495C03}"/>
              </a:ext>
            </a:extLst>
          </p:cNvPr>
          <p:cNvSpPr txBox="1"/>
          <p:nvPr/>
        </p:nvSpPr>
        <p:spPr>
          <a:xfrm>
            <a:off x="975360" y="2707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 Diagram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91319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lantUML diagram">
            <a:extLst>
              <a:ext uri="{FF2B5EF4-FFF2-40B4-BE49-F238E27FC236}">
                <a16:creationId xmlns:a16="http://schemas.microsoft.com/office/drawing/2014/main" id="{0AF70568-ACD4-7543-592A-5ED435B03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" y="517843"/>
            <a:ext cx="7239000" cy="58223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8093CF-EBE5-3357-4709-5570553F01B1}"/>
              </a:ext>
            </a:extLst>
          </p:cNvPr>
          <p:cNvSpPr txBox="1"/>
          <p:nvPr/>
        </p:nvSpPr>
        <p:spPr>
          <a:xfrm>
            <a:off x="534451" y="333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Collaboration Diagram </a:t>
            </a:r>
          </a:p>
        </p:txBody>
      </p:sp>
    </p:spTree>
    <p:extLst>
      <p:ext uri="{BB962C8B-B14F-4D97-AF65-F5344CB8AC3E}">
        <p14:creationId xmlns:p14="http://schemas.microsoft.com/office/powerpoint/2010/main" val="3669246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5603-E4F6-5709-A82E-92C30DC11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9" y="138984"/>
            <a:ext cx="10515600" cy="6475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Source code: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9DD07-7B42-80B5-DF94-59A22FC16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439" y="884902"/>
            <a:ext cx="11707761" cy="57322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/>
              <a:t>main = </a:t>
            </a:r>
            <a:r>
              <a:rPr lang="en-IN" sz="1600" dirty="0" err="1"/>
              <a:t>tkinter.Tk</a:t>
            </a:r>
            <a:r>
              <a:rPr lang="en-IN" sz="1600" dirty="0"/>
              <a:t>() </a:t>
            </a:r>
          </a:p>
          <a:p>
            <a:pPr marL="0" indent="0">
              <a:buNone/>
            </a:pPr>
            <a:r>
              <a:rPr lang="en-IN" sz="1600" dirty="0" err="1"/>
              <a:t>main.title</a:t>
            </a:r>
            <a:r>
              <a:rPr lang="en-IN" sz="1600" dirty="0"/>
              <a:t>("A Deep Learning-Based Approach for Inappropriate Content Detection and Classification of YouTube Videos") </a:t>
            </a:r>
            <a:r>
              <a:rPr lang="en-IN" sz="1600" dirty="0" err="1"/>
              <a:t>main.geometry</a:t>
            </a:r>
            <a:r>
              <a:rPr lang="en-IN" sz="1600" dirty="0"/>
              <a:t>("1200x1200") </a:t>
            </a:r>
          </a:p>
          <a:p>
            <a:pPr marL="0" indent="0">
              <a:buNone/>
            </a:pPr>
            <a:r>
              <a:rPr lang="en-IN" sz="1600" dirty="0" err="1"/>
              <a:t>content_model</a:t>
            </a:r>
            <a:r>
              <a:rPr lang="en-IN" sz="1600" dirty="0"/>
              <a:t> = </a:t>
            </a:r>
            <a:r>
              <a:rPr lang="en-IN" sz="1600" dirty="0" err="1"/>
              <a:t>load_model</a:t>
            </a:r>
            <a:r>
              <a:rPr lang="en-IN" sz="1600" dirty="0"/>
              <a:t>("model/content_model.h5") </a:t>
            </a:r>
          </a:p>
          <a:p>
            <a:pPr marL="0" indent="0">
              <a:buNone/>
            </a:pPr>
            <a:r>
              <a:rPr lang="en-IN" sz="1600" dirty="0"/>
              <a:t>global </a:t>
            </a:r>
            <a:r>
              <a:rPr lang="en-IN" sz="1600" dirty="0" err="1"/>
              <a:t>X_train</a:t>
            </a:r>
            <a:r>
              <a:rPr lang="en-IN" sz="1600" dirty="0"/>
              <a:t>, </a:t>
            </a:r>
            <a:r>
              <a:rPr lang="en-IN" sz="1600" dirty="0" err="1"/>
              <a:t>X_test</a:t>
            </a:r>
            <a:r>
              <a:rPr lang="en-IN" sz="1600" dirty="0"/>
              <a:t>, </a:t>
            </a:r>
            <a:r>
              <a:rPr lang="en-IN" sz="1600" dirty="0" err="1"/>
              <a:t>y_train</a:t>
            </a:r>
            <a:r>
              <a:rPr lang="en-IN" sz="1600" dirty="0"/>
              <a:t>, </a:t>
            </a:r>
            <a:r>
              <a:rPr lang="en-IN" sz="1600" dirty="0" err="1"/>
              <a:t>y_test</a:t>
            </a:r>
            <a:r>
              <a:rPr lang="en-IN" sz="1600" dirty="0"/>
              <a:t> global </a:t>
            </a:r>
            <a:r>
              <a:rPr lang="en-IN" sz="1600" dirty="0" err="1"/>
              <a:t>bilstm_model</a:t>
            </a:r>
            <a:r>
              <a:rPr lang="en-IN" sz="1600" dirty="0"/>
              <a:t>, </a:t>
            </a:r>
            <a:r>
              <a:rPr lang="en-IN" sz="1600" dirty="0" err="1"/>
              <a:t>cnn_model</a:t>
            </a:r>
            <a:r>
              <a:rPr lang="en-IN" sz="1600" dirty="0"/>
              <a:t> global X, Y, X1, Y1 accuracy = [] precision = [] recall = [] </a:t>
            </a:r>
            <a:r>
              <a:rPr lang="en-IN" sz="1600" dirty="0" err="1"/>
              <a:t>fscore</a:t>
            </a:r>
            <a:r>
              <a:rPr lang="en-IN" sz="1600" dirty="0"/>
              <a:t> = [] </a:t>
            </a:r>
          </a:p>
          <a:p>
            <a:pPr marL="0" indent="0">
              <a:buNone/>
            </a:pPr>
            <a:r>
              <a:rPr lang="en-IN" sz="1600" dirty="0"/>
              <a:t> </a:t>
            </a:r>
          </a:p>
          <a:p>
            <a:pPr marL="0" indent="0">
              <a:buNone/>
            </a:pPr>
            <a:r>
              <a:rPr lang="en-IN" sz="1600" dirty="0"/>
              <a:t>def </a:t>
            </a:r>
            <a:r>
              <a:rPr lang="en-IN" sz="1600" dirty="0" err="1"/>
              <a:t>uploadDataset</a:t>
            </a:r>
            <a:r>
              <a:rPr lang="en-IN" sz="1600" dirty="0"/>
              <a:t>(): </a:t>
            </a:r>
          </a:p>
          <a:p>
            <a:pPr marL="0" indent="0">
              <a:buNone/>
            </a:pPr>
            <a:r>
              <a:rPr lang="en-IN" sz="1600" dirty="0"/>
              <a:t>global filename, dataset, </a:t>
            </a:r>
            <a:r>
              <a:rPr lang="en-IN" sz="1600" dirty="0" err="1"/>
              <a:t>textdata</a:t>
            </a:r>
            <a:r>
              <a:rPr lang="en-IN" sz="1600" dirty="0"/>
              <a:t>, labels </a:t>
            </a:r>
            <a:r>
              <a:rPr lang="en-IN" sz="1600" dirty="0" err="1"/>
              <a:t>text.delete</a:t>
            </a:r>
            <a:r>
              <a:rPr lang="en-IN" sz="1600" dirty="0"/>
              <a:t>('1.0', END) </a:t>
            </a:r>
          </a:p>
          <a:p>
            <a:pPr marL="0" indent="0">
              <a:buNone/>
            </a:pPr>
            <a:r>
              <a:rPr lang="en-IN" sz="1600" dirty="0"/>
              <a:t>filename = </a:t>
            </a:r>
            <a:r>
              <a:rPr lang="en-IN" sz="1600" dirty="0" err="1"/>
              <a:t>filedialog.askdirectory</a:t>
            </a:r>
            <a:r>
              <a:rPr lang="en-IN" sz="1600" dirty="0"/>
              <a:t>(</a:t>
            </a:r>
            <a:r>
              <a:rPr lang="en-IN" sz="1600" dirty="0" err="1"/>
              <a:t>initialdir</a:t>
            </a:r>
            <a:r>
              <a:rPr lang="en-IN" sz="1600" dirty="0"/>
              <a:t>=".") </a:t>
            </a:r>
            <a:r>
              <a:rPr lang="en-IN" sz="1600" dirty="0" err="1"/>
              <a:t>text.insert</a:t>
            </a:r>
            <a:r>
              <a:rPr lang="en-IN" sz="1600" dirty="0"/>
              <a:t>(</a:t>
            </a:r>
            <a:r>
              <a:rPr lang="en-IN" sz="1600" dirty="0" err="1"/>
              <a:t>END,str</a:t>
            </a:r>
            <a:r>
              <a:rPr lang="en-IN" sz="1600" dirty="0"/>
              <a:t>(filename)+" Dataset Loaded\n\n") </a:t>
            </a:r>
            <a:r>
              <a:rPr lang="en-IN" sz="1600" dirty="0" err="1"/>
              <a:t>pathlabel.config</a:t>
            </a:r>
            <a:r>
              <a:rPr lang="en-IN" sz="1600" dirty="0"/>
              <a:t>(text=str(filename)+" Dataset Loaded") </a:t>
            </a:r>
            <a:r>
              <a:rPr lang="en-IN" sz="1600" dirty="0" err="1"/>
              <a:t>img</a:t>
            </a:r>
            <a:r>
              <a:rPr lang="en-IN" sz="1600" dirty="0"/>
              <a:t> =cv2.imread("Dataset/</a:t>
            </a:r>
            <a:r>
              <a:rPr lang="en-IN" sz="1600" dirty="0" err="1"/>
              <a:t>InappropriateContent</a:t>
            </a:r>
            <a:r>
              <a:rPr lang="en-IN" sz="1600" dirty="0"/>
              <a:t>/316.jpg") </a:t>
            </a:r>
            <a:r>
              <a:rPr lang="en-IN" sz="1600" dirty="0" err="1"/>
              <a:t>img</a:t>
            </a:r>
            <a:r>
              <a:rPr lang="en-IN" sz="1600" dirty="0"/>
              <a:t> = cv2.resize(</a:t>
            </a:r>
            <a:r>
              <a:rPr lang="en-IN" sz="1600" dirty="0" err="1"/>
              <a:t>img</a:t>
            </a:r>
            <a:r>
              <a:rPr lang="en-IN" sz="1600" dirty="0"/>
              <a:t>, (500, 400)) cv2.imshow("Loaded Sample Image", </a:t>
            </a:r>
            <a:r>
              <a:rPr lang="en-IN" sz="1600" dirty="0" err="1"/>
              <a:t>img</a:t>
            </a:r>
            <a:r>
              <a:rPr lang="en-IN" sz="1600" dirty="0"/>
              <a:t>) cv2.waitKey(0) </a:t>
            </a:r>
          </a:p>
          <a:p>
            <a:pPr marL="0" indent="0">
              <a:buNone/>
            </a:pPr>
            <a:r>
              <a:rPr lang="en-IN" sz="1600" dirty="0"/>
              <a:t>def </a:t>
            </a:r>
            <a:r>
              <a:rPr lang="en-IN" sz="1600" dirty="0" err="1"/>
              <a:t>preprocessDataset</a:t>
            </a:r>
            <a:r>
              <a:rPr lang="en-IN" sz="1600" dirty="0"/>
              <a:t>(): </a:t>
            </a:r>
            <a:r>
              <a:rPr lang="en-IN" sz="1600" dirty="0" err="1"/>
              <a:t>text.delete</a:t>
            </a:r>
            <a:r>
              <a:rPr lang="en-IN" sz="1600" dirty="0"/>
              <a:t>('1.0', END) global X, Y, X1, Y1 if </a:t>
            </a:r>
            <a:r>
              <a:rPr lang="en-IN" sz="1600" dirty="0" err="1"/>
              <a:t>os.path.exists</a:t>
            </a:r>
            <a:r>
              <a:rPr lang="en-IN" sz="1600" dirty="0"/>
              <a:t>("model/</a:t>
            </a:r>
            <a:r>
              <a:rPr lang="en-IN" sz="1600" dirty="0" err="1"/>
              <a:t>X.txt.npy</a:t>
            </a:r>
            <a:r>
              <a:rPr lang="en-IN" sz="1600" dirty="0"/>
              <a:t>"): </a:t>
            </a:r>
          </a:p>
          <a:p>
            <a:pPr marL="0" indent="0">
              <a:buNone/>
            </a:pPr>
            <a:r>
              <a:rPr lang="en-IN" sz="1600" dirty="0"/>
              <a:t>X = </a:t>
            </a:r>
            <a:r>
              <a:rPr lang="en-IN" sz="1600" dirty="0" err="1"/>
              <a:t>np.load</a:t>
            </a:r>
            <a:r>
              <a:rPr lang="en-IN" sz="1600" dirty="0"/>
              <a:t>('model/</a:t>
            </a:r>
            <a:r>
              <a:rPr lang="en-IN" sz="1600" dirty="0" err="1"/>
              <a:t>X.txt.npy</a:t>
            </a:r>
            <a:r>
              <a:rPr lang="en-IN" sz="1600" dirty="0"/>
              <a:t>') Y = </a:t>
            </a:r>
            <a:r>
              <a:rPr lang="en-IN" sz="1600" dirty="0" err="1"/>
              <a:t>np.load</a:t>
            </a:r>
            <a:r>
              <a:rPr lang="en-IN" sz="1600" dirty="0"/>
              <a:t>('model/</a:t>
            </a:r>
            <a:r>
              <a:rPr lang="en-IN" sz="1600" dirty="0" err="1"/>
              <a:t>Y.txt.npy</a:t>
            </a:r>
            <a:r>
              <a:rPr lang="en-IN" sz="1600" dirty="0"/>
              <a:t>') </a:t>
            </a:r>
          </a:p>
          <a:p>
            <a:pPr marL="0" indent="0">
              <a:buNone/>
            </a:pPr>
            <a:r>
              <a:rPr lang="en-IN" sz="1600" dirty="0"/>
              <a:t>X1 = </a:t>
            </a:r>
            <a:r>
              <a:rPr lang="en-IN" sz="1600" dirty="0" err="1"/>
              <a:t>np.load</a:t>
            </a:r>
            <a:r>
              <a:rPr lang="en-IN" sz="1600" dirty="0"/>
              <a:t>('model/X1.txt.npy') </a:t>
            </a:r>
          </a:p>
          <a:p>
            <a:pPr marL="0" indent="0">
              <a:buNone/>
            </a:pPr>
            <a:r>
              <a:rPr lang="en-IN" sz="1600" dirty="0"/>
              <a:t>Y1 = </a:t>
            </a:r>
            <a:r>
              <a:rPr lang="en-IN" sz="1600" dirty="0" err="1"/>
              <a:t>np.load</a:t>
            </a:r>
            <a:r>
              <a:rPr lang="en-IN" sz="1600" dirty="0"/>
              <a:t>('model/Y1.txt.npy') else: </a:t>
            </a:r>
          </a:p>
          <a:p>
            <a:pPr marL="0" indent="0">
              <a:buNone/>
            </a:pPr>
            <a:r>
              <a:rPr lang="en-IN" sz="1600" dirty="0"/>
              <a:t>X = [] Y = [] for root, </a:t>
            </a:r>
            <a:r>
              <a:rPr lang="en-IN" sz="1600" dirty="0" err="1"/>
              <a:t>dirs</a:t>
            </a:r>
            <a:r>
              <a:rPr lang="en-IN" sz="1600" dirty="0"/>
              <a:t>, directory in </a:t>
            </a:r>
            <a:r>
              <a:rPr lang="en-IN" sz="1600" dirty="0" err="1"/>
              <a:t>os.walk</a:t>
            </a:r>
            <a:r>
              <a:rPr lang="en-IN" sz="1600" dirty="0"/>
              <a:t>('Dataset'): </a:t>
            </a:r>
          </a:p>
          <a:p>
            <a:pPr marL="0" indent="0">
              <a:buNone/>
            </a:pPr>
            <a:r>
              <a:rPr lang="en-IN" sz="1600" dirty="0"/>
              <a:t>for j in range(</a:t>
            </a:r>
            <a:r>
              <a:rPr lang="en-IN" sz="1600" dirty="0" err="1"/>
              <a:t>len</a:t>
            </a:r>
            <a:r>
              <a:rPr lang="en-IN" sz="1600" dirty="0"/>
              <a:t>(directory)): name = </a:t>
            </a:r>
            <a:r>
              <a:rPr lang="en-IN" sz="1600" dirty="0" err="1"/>
              <a:t>os.path.basename</a:t>
            </a:r>
            <a:r>
              <a:rPr lang="en-IN" sz="1600" dirty="0"/>
              <a:t>(root) if '</a:t>
            </a:r>
            <a:r>
              <a:rPr lang="en-IN" sz="1600" dirty="0" err="1"/>
              <a:t>Thumbs.db</a:t>
            </a:r>
            <a:r>
              <a:rPr lang="en-IN" sz="1600" dirty="0"/>
              <a:t>' not in directory[j]: </a:t>
            </a:r>
            <a:r>
              <a:rPr lang="en-IN" sz="1600" dirty="0" err="1"/>
              <a:t>img</a:t>
            </a:r>
            <a:r>
              <a:rPr lang="en-IN" sz="1600" dirty="0"/>
              <a:t> = cv2.imread(root+"/"+directory[j]) </a:t>
            </a:r>
            <a:r>
              <a:rPr lang="en-IN" sz="1600" dirty="0" err="1"/>
              <a:t>img</a:t>
            </a:r>
            <a:r>
              <a:rPr lang="en-IN" sz="1600" dirty="0"/>
              <a:t> = cv2.resize(</a:t>
            </a:r>
            <a:r>
              <a:rPr lang="en-IN" sz="1600" dirty="0" err="1"/>
              <a:t>img</a:t>
            </a:r>
            <a:r>
              <a:rPr lang="en-IN" sz="1600" dirty="0"/>
              <a:t>, (32, 32)) label = 0 if name == '</a:t>
            </a:r>
            <a:r>
              <a:rPr lang="en-IN" sz="1600" dirty="0" err="1"/>
              <a:t>InappropriateContent</a:t>
            </a:r>
            <a:r>
              <a:rPr lang="en-IN" sz="1600" dirty="0"/>
              <a:t>': </a:t>
            </a:r>
          </a:p>
          <a:p>
            <a:pPr marL="0" indent="0">
              <a:buNone/>
            </a:pPr>
            <a:r>
              <a:rPr lang="en-IN" sz="1600" dirty="0"/>
              <a:t>label = 1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029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01A9C-CD6D-EA70-E9BE-14F252C52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09" y="255638"/>
            <a:ext cx="11779045" cy="64401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dirty="0" err="1"/>
              <a:t>X.append</a:t>
            </a:r>
            <a:r>
              <a:rPr lang="en-IN" sz="1600" dirty="0"/>
              <a:t>(</a:t>
            </a:r>
            <a:r>
              <a:rPr lang="en-IN" sz="1600" dirty="0" err="1"/>
              <a:t>img</a:t>
            </a:r>
            <a:r>
              <a:rPr lang="en-IN" sz="1600" dirty="0"/>
              <a:t>) </a:t>
            </a:r>
            <a:r>
              <a:rPr lang="en-IN" sz="1600" dirty="0" err="1"/>
              <a:t>Y.append</a:t>
            </a:r>
            <a:r>
              <a:rPr lang="en-IN" sz="1600" dirty="0"/>
              <a:t>(label) </a:t>
            </a:r>
          </a:p>
          <a:p>
            <a:pPr marL="0" indent="0">
              <a:buNone/>
            </a:pPr>
            <a:r>
              <a:rPr lang="en-IN" sz="1600" dirty="0"/>
              <a:t>print(name+" "+directory[j]+" "+str(label)) </a:t>
            </a:r>
          </a:p>
          <a:p>
            <a:pPr marL="0" indent="0">
              <a:buNone/>
            </a:pPr>
            <a:r>
              <a:rPr lang="en-IN" sz="1600" dirty="0"/>
              <a:t>X = </a:t>
            </a:r>
            <a:r>
              <a:rPr lang="en-IN" sz="1600" dirty="0" err="1"/>
              <a:t>np.asarray</a:t>
            </a:r>
            <a:r>
              <a:rPr lang="en-IN" sz="1600" dirty="0"/>
              <a:t>(X) Y = </a:t>
            </a:r>
            <a:r>
              <a:rPr lang="en-IN" sz="1600" dirty="0" err="1"/>
              <a:t>np.asarray</a:t>
            </a:r>
            <a:r>
              <a:rPr lang="en-IN" sz="1600" dirty="0"/>
              <a:t>(Y) </a:t>
            </a:r>
            <a:r>
              <a:rPr lang="en-IN" sz="1600" dirty="0" err="1"/>
              <a:t>np.save</a:t>
            </a:r>
            <a:r>
              <a:rPr lang="en-IN" sz="1600" dirty="0"/>
              <a:t>('model/X1.txt',X) </a:t>
            </a:r>
            <a:r>
              <a:rPr lang="en-IN" sz="1600" dirty="0" err="1"/>
              <a:t>np.save</a:t>
            </a:r>
            <a:r>
              <a:rPr lang="en-IN" sz="1600" dirty="0"/>
              <a:t>('model/Y1.txt',Y) </a:t>
            </a:r>
          </a:p>
          <a:p>
            <a:pPr marL="0" indent="0">
              <a:buNone/>
            </a:pPr>
            <a:r>
              <a:rPr lang="en-IN" sz="1600" dirty="0"/>
              <a:t>X = </a:t>
            </a:r>
            <a:r>
              <a:rPr lang="en-IN" sz="1600" dirty="0" err="1"/>
              <a:t>X.astype</a:t>
            </a:r>
            <a:r>
              <a:rPr lang="en-IN" sz="1600" dirty="0"/>
              <a:t>('float32') X = X/255 indices = </a:t>
            </a:r>
            <a:r>
              <a:rPr lang="en-IN" sz="1600" dirty="0" err="1"/>
              <a:t>np.arange</a:t>
            </a:r>
            <a:r>
              <a:rPr lang="en-IN" sz="1600" dirty="0"/>
              <a:t>(</a:t>
            </a:r>
            <a:r>
              <a:rPr lang="en-IN" sz="1600" dirty="0" err="1"/>
              <a:t>X.shape</a:t>
            </a:r>
            <a:r>
              <a:rPr lang="en-IN" sz="1600" dirty="0"/>
              <a:t>[0]) </a:t>
            </a:r>
            <a:r>
              <a:rPr lang="en-IN" sz="1600" dirty="0" err="1"/>
              <a:t>np.random.shuffle</a:t>
            </a:r>
            <a:r>
              <a:rPr lang="en-IN" sz="1600" dirty="0"/>
              <a:t>(indices) </a:t>
            </a:r>
          </a:p>
          <a:p>
            <a:pPr marL="0" indent="0">
              <a:buNone/>
            </a:pPr>
            <a:r>
              <a:rPr lang="en-IN" sz="1600" dirty="0"/>
              <a:t>= X[indices] </a:t>
            </a:r>
          </a:p>
          <a:p>
            <a:pPr marL="0" indent="0">
              <a:buNone/>
            </a:pPr>
            <a:r>
              <a:rPr lang="en-IN" sz="1600" dirty="0"/>
              <a:t>= Y[indices] </a:t>
            </a:r>
          </a:p>
          <a:p>
            <a:pPr marL="0" indent="0">
              <a:buNone/>
            </a:pPr>
            <a:r>
              <a:rPr lang="en-IN" sz="1600" dirty="0"/>
              <a:t>unique, count = </a:t>
            </a:r>
            <a:r>
              <a:rPr lang="en-IN" sz="1600" dirty="0" err="1"/>
              <a:t>np.unique</a:t>
            </a:r>
            <a:r>
              <a:rPr lang="en-IN" sz="1600" dirty="0"/>
              <a:t>(Y1, </a:t>
            </a:r>
            <a:r>
              <a:rPr lang="en-IN" sz="1600" dirty="0" err="1"/>
              <a:t>return_counts</a:t>
            </a:r>
            <a:r>
              <a:rPr lang="en-IN" sz="1600" dirty="0"/>
              <a:t> = True) Y = </a:t>
            </a:r>
            <a:r>
              <a:rPr lang="en-IN" sz="1600" dirty="0" err="1"/>
              <a:t>to_categorical</a:t>
            </a:r>
            <a:r>
              <a:rPr lang="en-IN" sz="1600" dirty="0"/>
              <a:t>(Y) </a:t>
            </a:r>
          </a:p>
          <a:p>
            <a:pPr marL="0" indent="0">
              <a:buNone/>
            </a:pPr>
            <a:r>
              <a:rPr lang="en-IN" sz="1600" dirty="0" err="1"/>
              <a:t>text.insert</a:t>
            </a:r>
            <a:r>
              <a:rPr lang="en-IN" sz="1600" dirty="0"/>
              <a:t>(</a:t>
            </a:r>
            <a:r>
              <a:rPr lang="en-IN" sz="1600" dirty="0" err="1"/>
              <a:t>END,"Total</a:t>
            </a:r>
            <a:r>
              <a:rPr lang="en-IN" sz="1600" dirty="0"/>
              <a:t> images found in dataset : "+str(X1.shape[0])+"\n\n") </a:t>
            </a:r>
            <a:r>
              <a:rPr lang="en-IN" sz="1600" dirty="0" err="1"/>
              <a:t>text.insert</a:t>
            </a:r>
            <a:r>
              <a:rPr lang="en-IN" sz="1600" dirty="0"/>
              <a:t>(</a:t>
            </a:r>
            <a:r>
              <a:rPr lang="en-IN" sz="1600" dirty="0" err="1"/>
              <a:t>END,"Labels</a:t>
            </a:r>
            <a:r>
              <a:rPr lang="en-IN" sz="1600" dirty="0"/>
              <a:t> in dataset : Safe &amp; Inappropriate Content") </a:t>
            </a:r>
            <a:r>
              <a:rPr lang="en-IN" sz="1600" dirty="0" err="1"/>
              <a:t>text.update_idletasks</a:t>
            </a:r>
            <a:r>
              <a:rPr lang="en-IN" sz="1600" dirty="0"/>
              <a:t>() height = count bars = ['Safe Content', 'Inappropriate Content'] </a:t>
            </a:r>
            <a:r>
              <a:rPr lang="en-IN" sz="1600" dirty="0" err="1"/>
              <a:t>y_pos</a:t>
            </a:r>
            <a:r>
              <a:rPr lang="en-IN" sz="1600" dirty="0"/>
              <a:t> = </a:t>
            </a:r>
            <a:r>
              <a:rPr lang="en-IN" sz="1600" dirty="0" err="1"/>
              <a:t>np.arange</a:t>
            </a:r>
            <a:r>
              <a:rPr lang="en-IN" sz="1600" dirty="0"/>
              <a:t>(</a:t>
            </a:r>
            <a:r>
              <a:rPr lang="en-IN" sz="1600" dirty="0" err="1"/>
              <a:t>len</a:t>
            </a:r>
            <a:r>
              <a:rPr lang="en-IN" sz="1600" dirty="0"/>
              <a:t>(bars)) </a:t>
            </a:r>
            <a:r>
              <a:rPr lang="en-IN" sz="1600" dirty="0" err="1"/>
              <a:t>plt.bar</a:t>
            </a:r>
            <a:r>
              <a:rPr lang="en-IN" sz="1600" dirty="0"/>
              <a:t>(</a:t>
            </a:r>
            <a:r>
              <a:rPr lang="en-IN" sz="1600" dirty="0" err="1"/>
              <a:t>y_pos</a:t>
            </a:r>
            <a:r>
              <a:rPr lang="en-IN" sz="1600" dirty="0"/>
              <a:t>, height) </a:t>
            </a:r>
            <a:r>
              <a:rPr lang="en-IN" sz="1600" dirty="0" err="1"/>
              <a:t>plt.xticks</a:t>
            </a:r>
            <a:r>
              <a:rPr lang="en-IN" sz="1600" dirty="0"/>
              <a:t>(</a:t>
            </a:r>
            <a:r>
              <a:rPr lang="en-IN" sz="1600" dirty="0" err="1"/>
              <a:t>y_pos</a:t>
            </a:r>
            <a:r>
              <a:rPr lang="en-IN" sz="1600" dirty="0"/>
              <a:t>, bars) </a:t>
            </a:r>
          </a:p>
          <a:p>
            <a:pPr marL="0" indent="0">
              <a:buNone/>
            </a:pPr>
            <a:r>
              <a:rPr lang="en-IN" sz="1600" dirty="0" err="1"/>
              <a:t>plt.title</a:t>
            </a:r>
            <a:r>
              <a:rPr lang="en-IN" sz="1600" dirty="0"/>
              <a:t>("Safe &amp; Inappropriate Content found in dataset") </a:t>
            </a:r>
            <a:r>
              <a:rPr lang="en-IN" sz="1600" dirty="0" err="1"/>
              <a:t>plt.xlabel</a:t>
            </a:r>
            <a:r>
              <a:rPr lang="en-IN" sz="1600" dirty="0"/>
              <a:t>("</a:t>
            </a:r>
            <a:r>
              <a:rPr lang="en-IN" sz="1600" dirty="0" err="1"/>
              <a:t>Youtube</a:t>
            </a:r>
            <a:r>
              <a:rPr lang="en-IN" sz="1600" dirty="0"/>
              <a:t> Content Type") </a:t>
            </a:r>
            <a:r>
              <a:rPr lang="en-IN" sz="1600" dirty="0" err="1"/>
              <a:t>plt.ylabel</a:t>
            </a:r>
            <a:r>
              <a:rPr lang="en-IN" sz="1600" dirty="0"/>
              <a:t>("Count") </a:t>
            </a:r>
            <a:r>
              <a:rPr lang="en-IN" sz="1600" dirty="0" err="1"/>
              <a:t>plt.show</a:t>
            </a:r>
            <a:r>
              <a:rPr lang="en-IN" sz="1600" dirty="0"/>
              <a:t>() </a:t>
            </a:r>
          </a:p>
          <a:p>
            <a:pPr marL="0" indent="0">
              <a:buNone/>
            </a:pPr>
            <a:r>
              <a:rPr lang="en-IN" sz="1600" dirty="0"/>
              <a:t> </a:t>
            </a:r>
          </a:p>
          <a:p>
            <a:pPr marL="0" indent="0">
              <a:buNone/>
            </a:pPr>
            <a:r>
              <a:rPr lang="en-IN" sz="1600" dirty="0"/>
              <a:t>def </a:t>
            </a:r>
            <a:r>
              <a:rPr lang="en-IN" sz="1600" dirty="0" err="1"/>
              <a:t>calculateMetrics</a:t>
            </a:r>
            <a:r>
              <a:rPr lang="en-IN" sz="1600" dirty="0"/>
              <a:t>(algorithm, predict, target): </a:t>
            </a:r>
            <a:r>
              <a:rPr lang="en-IN" sz="1600" dirty="0" err="1"/>
              <a:t>acc</a:t>
            </a:r>
            <a:r>
              <a:rPr lang="en-IN" sz="1600" dirty="0"/>
              <a:t> = </a:t>
            </a:r>
            <a:r>
              <a:rPr lang="en-IN" sz="1600" dirty="0" err="1"/>
              <a:t>accuracy_score</a:t>
            </a:r>
            <a:r>
              <a:rPr lang="en-IN" sz="1600" dirty="0"/>
              <a:t>(</a:t>
            </a:r>
            <a:r>
              <a:rPr lang="en-IN" sz="1600" dirty="0" err="1"/>
              <a:t>target,predict</a:t>
            </a:r>
            <a:r>
              <a:rPr lang="en-IN" sz="1600" dirty="0"/>
              <a:t>)*100 </a:t>
            </a:r>
          </a:p>
          <a:p>
            <a:pPr marL="0" indent="0">
              <a:buNone/>
            </a:pPr>
            <a:r>
              <a:rPr lang="en-IN" sz="1600" dirty="0"/>
              <a:t>p = </a:t>
            </a:r>
            <a:r>
              <a:rPr lang="en-IN" sz="1600" dirty="0" err="1"/>
              <a:t>precision_score</a:t>
            </a:r>
            <a:r>
              <a:rPr lang="en-IN" sz="1600" dirty="0"/>
              <a:t>(</a:t>
            </a:r>
            <a:r>
              <a:rPr lang="en-IN" sz="1600" dirty="0" err="1"/>
              <a:t>target,predict,average</a:t>
            </a:r>
            <a:r>
              <a:rPr lang="en-IN" sz="1600" dirty="0"/>
              <a:t>='macro') * 100 r = </a:t>
            </a:r>
            <a:r>
              <a:rPr lang="en-IN" sz="1600" dirty="0" err="1"/>
              <a:t>recall_score</a:t>
            </a:r>
            <a:r>
              <a:rPr lang="en-IN" sz="1600" dirty="0"/>
              <a:t>(</a:t>
            </a:r>
            <a:r>
              <a:rPr lang="en-IN" sz="1600" dirty="0" err="1"/>
              <a:t>target,predict,average</a:t>
            </a:r>
            <a:r>
              <a:rPr lang="en-IN" sz="1600" dirty="0"/>
              <a:t>='macro') * 100 f = f1_score(</a:t>
            </a:r>
            <a:r>
              <a:rPr lang="en-IN" sz="1600" dirty="0" err="1"/>
              <a:t>target,predict,average</a:t>
            </a:r>
            <a:r>
              <a:rPr lang="en-IN" sz="1600" dirty="0"/>
              <a:t>='macro') * 100 </a:t>
            </a:r>
            <a:r>
              <a:rPr lang="en-IN" sz="1600" dirty="0" err="1"/>
              <a:t>text.insert</a:t>
            </a:r>
            <a:r>
              <a:rPr lang="en-IN" sz="1600" dirty="0"/>
              <a:t>(</a:t>
            </a:r>
            <a:r>
              <a:rPr lang="en-IN" sz="1600" dirty="0" err="1"/>
              <a:t>END,algorithm</a:t>
            </a:r>
            <a:r>
              <a:rPr lang="en-IN" sz="1600" dirty="0"/>
              <a:t>+" Precision : "+str(p)+"\n") </a:t>
            </a:r>
            <a:r>
              <a:rPr lang="en-IN" sz="1600" dirty="0" err="1"/>
              <a:t>text.insert</a:t>
            </a:r>
            <a:r>
              <a:rPr lang="en-IN" sz="1600" dirty="0"/>
              <a:t>(</a:t>
            </a:r>
            <a:r>
              <a:rPr lang="en-IN" sz="1600" dirty="0" err="1"/>
              <a:t>END,algorithm</a:t>
            </a:r>
            <a:r>
              <a:rPr lang="en-IN" sz="1600" dirty="0"/>
              <a:t>+" Recall : "+str(r)+"\n") </a:t>
            </a:r>
            <a:r>
              <a:rPr lang="en-IN" sz="1600" dirty="0" err="1"/>
              <a:t>text.insert</a:t>
            </a:r>
            <a:r>
              <a:rPr lang="en-IN" sz="1600" dirty="0"/>
              <a:t>(</a:t>
            </a:r>
            <a:r>
              <a:rPr lang="en-IN" sz="1600" dirty="0" err="1"/>
              <a:t>END,algorithm</a:t>
            </a:r>
            <a:r>
              <a:rPr lang="en-IN" sz="1600" dirty="0"/>
              <a:t>+" F1-Score : "+str(f)+"\n") </a:t>
            </a:r>
            <a:r>
              <a:rPr lang="en-IN" sz="1600" dirty="0" err="1"/>
              <a:t>text.insert</a:t>
            </a:r>
            <a:r>
              <a:rPr lang="en-IN" sz="1600" dirty="0"/>
              <a:t>(</a:t>
            </a:r>
            <a:r>
              <a:rPr lang="en-IN" sz="1600" dirty="0" err="1"/>
              <a:t>END,algorithm</a:t>
            </a:r>
            <a:r>
              <a:rPr lang="en-IN" sz="1600" dirty="0"/>
              <a:t>+" Accuracy : "+str(</a:t>
            </a:r>
            <a:r>
              <a:rPr lang="en-IN" sz="1600" dirty="0" err="1"/>
              <a:t>acc</a:t>
            </a:r>
            <a:r>
              <a:rPr lang="en-IN" sz="1600" dirty="0"/>
              <a:t>)+"\n\n") </a:t>
            </a:r>
            <a:r>
              <a:rPr lang="en-IN" sz="1600" dirty="0" err="1"/>
              <a:t>text.update_idletasks</a:t>
            </a:r>
            <a:r>
              <a:rPr lang="en-IN" sz="1600" dirty="0"/>
              <a:t>() </a:t>
            </a:r>
            <a:r>
              <a:rPr lang="en-IN" sz="1600" dirty="0" err="1"/>
              <a:t>precision.append</a:t>
            </a:r>
            <a:r>
              <a:rPr lang="en-IN" sz="1600" dirty="0"/>
              <a:t>(p) </a:t>
            </a:r>
            <a:r>
              <a:rPr lang="en-IN" sz="1600" dirty="0" err="1"/>
              <a:t>accuracy.append</a:t>
            </a:r>
            <a:r>
              <a:rPr lang="en-IN" sz="1600" dirty="0"/>
              <a:t>(</a:t>
            </a:r>
            <a:r>
              <a:rPr lang="en-IN" sz="1600" dirty="0" err="1"/>
              <a:t>acc</a:t>
            </a:r>
            <a:r>
              <a:rPr lang="en-IN" sz="1600" dirty="0"/>
              <a:t>) </a:t>
            </a:r>
            <a:r>
              <a:rPr lang="en-IN" sz="1600" dirty="0" err="1"/>
              <a:t>recall.append</a:t>
            </a:r>
            <a:r>
              <a:rPr lang="en-IN" sz="1600" dirty="0"/>
              <a:t>(r) </a:t>
            </a:r>
            <a:r>
              <a:rPr lang="en-IN" sz="1600" dirty="0" err="1"/>
              <a:t>fscore.append</a:t>
            </a:r>
            <a:r>
              <a:rPr lang="en-IN" sz="1600" dirty="0"/>
              <a:t>(f) </a:t>
            </a:r>
          </a:p>
          <a:p>
            <a:pPr marL="0" indent="0">
              <a:buNone/>
            </a:pPr>
            <a:r>
              <a:rPr lang="en-IN" sz="1600" dirty="0"/>
              <a:t>LABELS = ['Safe Content', 'Inappropriate Content'] </a:t>
            </a:r>
            <a:r>
              <a:rPr lang="en-IN" sz="1600" dirty="0" err="1"/>
              <a:t>conf_matrix</a:t>
            </a:r>
            <a:r>
              <a:rPr lang="en-IN" sz="1600" dirty="0"/>
              <a:t> = </a:t>
            </a:r>
            <a:r>
              <a:rPr lang="en-IN" sz="1600" dirty="0" err="1"/>
              <a:t>confusion_matrix</a:t>
            </a:r>
            <a:r>
              <a:rPr lang="en-IN" sz="1600" dirty="0"/>
              <a:t>(target, predict) </a:t>
            </a:r>
            <a:r>
              <a:rPr lang="en-IN" sz="1600" dirty="0" err="1"/>
              <a:t>plt.figure</a:t>
            </a:r>
            <a:r>
              <a:rPr lang="en-IN" sz="1600" dirty="0"/>
              <a:t>(</a:t>
            </a:r>
            <a:r>
              <a:rPr lang="en-IN" sz="1600" dirty="0" err="1"/>
              <a:t>figsize</a:t>
            </a:r>
            <a:r>
              <a:rPr lang="en-IN" sz="1600" dirty="0"/>
              <a:t> =(6, 6)) </a:t>
            </a:r>
          </a:p>
          <a:p>
            <a:pPr marL="0" indent="0">
              <a:buNone/>
            </a:pPr>
            <a:r>
              <a:rPr lang="en-IN" sz="1600" dirty="0" err="1"/>
              <a:t>ax</a:t>
            </a:r>
            <a:r>
              <a:rPr lang="en-IN" sz="1600" dirty="0"/>
              <a:t> = </a:t>
            </a:r>
            <a:r>
              <a:rPr lang="en-IN" sz="1600" dirty="0" err="1"/>
              <a:t>sns.heatmap</a:t>
            </a:r>
            <a:r>
              <a:rPr lang="en-IN" sz="1600" dirty="0"/>
              <a:t>(</a:t>
            </a:r>
            <a:r>
              <a:rPr lang="en-IN" sz="1600" dirty="0" err="1"/>
              <a:t>conf_matrix</a:t>
            </a:r>
            <a:r>
              <a:rPr lang="en-IN" sz="1600" dirty="0"/>
              <a:t>, </a:t>
            </a:r>
            <a:r>
              <a:rPr lang="en-IN" sz="1600" dirty="0" err="1"/>
              <a:t>xticklabels</a:t>
            </a:r>
            <a:r>
              <a:rPr lang="en-IN" sz="1600" dirty="0"/>
              <a:t> = LABELS, </a:t>
            </a:r>
            <a:r>
              <a:rPr lang="en-IN" sz="1600" dirty="0" err="1"/>
              <a:t>yticklabels</a:t>
            </a:r>
            <a:r>
              <a:rPr lang="en-IN" sz="1600" dirty="0"/>
              <a:t> = LABELS, </a:t>
            </a:r>
          </a:p>
          <a:p>
            <a:pPr marL="0" indent="0">
              <a:buNone/>
            </a:pPr>
            <a:r>
              <a:rPr lang="en-IN" sz="1600" dirty="0" err="1"/>
              <a:t>annot</a:t>
            </a:r>
            <a:r>
              <a:rPr lang="en-IN" sz="1600" dirty="0"/>
              <a:t> = True, </a:t>
            </a:r>
            <a:r>
              <a:rPr lang="en-IN" sz="1600" dirty="0" err="1"/>
              <a:t>cmap</a:t>
            </a:r>
            <a:r>
              <a:rPr lang="en-IN" sz="1600" dirty="0"/>
              <a:t>="</a:t>
            </a:r>
            <a:r>
              <a:rPr lang="en-IN" sz="1600" dirty="0" err="1"/>
              <a:t>viridis</a:t>
            </a:r>
            <a:r>
              <a:rPr lang="en-IN" sz="1600" dirty="0"/>
              <a:t>" ,</a:t>
            </a:r>
            <a:r>
              <a:rPr lang="en-IN" sz="1600" dirty="0" err="1"/>
              <a:t>fmt</a:t>
            </a:r>
            <a:r>
              <a:rPr lang="en-IN" sz="1600" dirty="0"/>
              <a:t> ="g"); </a:t>
            </a:r>
            <a:r>
              <a:rPr lang="en-IN" sz="1600" dirty="0" err="1"/>
              <a:t>ax.set_ylim</a:t>
            </a:r>
            <a:r>
              <a:rPr lang="en-IN" sz="1600" dirty="0"/>
              <a:t>([0,2]) </a:t>
            </a:r>
          </a:p>
          <a:p>
            <a:pPr marL="0" indent="0">
              <a:buNone/>
            </a:pPr>
            <a:r>
              <a:rPr lang="en-IN" sz="1600" dirty="0" err="1"/>
              <a:t>plt.title</a:t>
            </a:r>
            <a:r>
              <a:rPr lang="en-IN" sz="1600" dirty="0"/>
              <a:t>(algorithm+" Confusion matrix") </a:t>
            </a:r>
            <a:r>
              <a:rPr lang="en-IN" sz="1600" dirty="0" err="1"/>
              <a:t>plt.ylabel</a:t>
            </a:r>
            <a:r>
              <a:rPr lang="en-IN" sz="1600" dirty="0"/>
              <a:t>('True </a:t>
            </a:r>
            <a:r>
              <a:rPr lang="en-IN" sz="1600" dirty="0" err="1"/>
              <a:t>class'</a:t>
            </a:r>
            <a:r>
              <a:rPr lang="en-IN" sz="1600" dirty="0"/>
              <a:t>) </a:t>
            </a:r>
            <a:r>
              <a:rPr lang="en-IN" sz="1600" dirty="0" err="1"/>
              <a:t>plt.xlabel</a:t>
            </a:r>
            <a:r>
              <a:rPr lang="en-IN" sz="1600" dirty="0"/>
              <a:t>('Predicted </a:t>
            </a:r>
            <a:r>
              <a:rPr lang="en-IN" sz="1600" dirty="0" err="1"/>
              <a:t>class'</a:t>
            </a:r>
            <a:r>
              <a:rPr lang="en-IN" sz="1600" dirty="0"/>
              <a:t>) </a:t>
            </a:r>
            <a:r>
              <a:rPr lang="en-IN" sz="1600" dirty="0" err="1"/>
              <a:t>plt.show</a:t>
            </a:r>
            <a:r>
              <a:rPr lang="en-IN" sz="1600" dirty="0"/>
              <a:t>() </a:t>
            </a:r>
          </a:p>
          <a:p>
            <a:pPr marL="0" indent="0">
              <a:buNone/>
            </a:pPr>
            <a:r>
              <a:rPr lang="en-IN" sz="1600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411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A3A33-5FD4-1591-9607-22F42BD31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363794"/>
            <a:ext cx="11582400" cy="61943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dirty="0"/>
              <a:t>def </a:t>
            </a:r>
            <a:r>
              <a:rPr lang="en-IN" sz="1900" dirty="0" err="1"/>
              <a:t>runExistingSVM</a:t>
            </a:r>
            <a:r>
              <a:rPr lang="en-IN" sz="1900" dirty="0"/>
              <a:t>(): global vectorizer, X, Y </a:t>
            </a:r>
          </a:p>
          <a:p>
            <a:pPr marL="0" indent="0">
              <a:buNone/>
            </a:pPr>
            <a:r>
              <a:rPr lang="en-IN" sz="1900" dirty="0"/>
              <a:t>Y = </a:t>
            </a:r>
            <a:r>
              <a:rPr lang="en-IN" sz="1900" dirty="0" err="1"/>
              <a:t>np.argmax</a:t>
            </a:r>
            <a:r>
              <a:rPr lang="en-IN" sz="1900" dirty="0"/>
              <a:t>(Y, axis=1) </a:t>
            </a:r>
          </a:p>
          <a:p>
            <a:pPr marL="0" indent="0">
              <a:buNone/>
            </a:pPr>
            <a:r>
              <a:rPr lang="en-IN" sz="1900" dirty="0" err="1"/>
              <a:t>X_train</a:t>
            </a:r>
            <a:r>
              <a:rPr lang="en-IN" sz="1900" dirty="0"/>
              <a:t>, </a:t>
            </a:r>
            <a:r>
              <a:rPr lang="en-IN" sz="1900" dirty="0" err="1"/>
              <a:t>X_test</a:t>
            </a:r>
            <a:r>
              <a:rPr lang="en-IN" sz="1900" dirty="0"/>
              <a:t>, </a:t>
            </a:r>
            <a:r>
              <a:rPr lang="en-IN" sz="1900" dirty="0" err="1"/>
              <a:t>y_train</a:t>
            </a:r>
            <a:r>
              <a:rPr lang="en-IN" sz="1900" dirty="0"/>
              <a:t>, </a:t>
            </a:r>
            <a:r>
              <a:rPr lang="en-IN" sz="1900" dirty="0" err="1"/>
              <a:t>y_test</a:t>
            </a:r>
            <a:r>
              <a:rPr lang="en-IN" sz="1900" dirty="0"/>
              <a:t> = </a:t>
            </a:r>
            <a:r>
              <a:rPr lang="en-IN" sz="1900" dirty="0" err="1"/>
              <a:t>train_test_split</a:t>
            </a:r>
            <a:r>
              <a:rPr lang="en-IN" sz="1900" dirty="0"/>
              <a:t>(X, Y, </a:t>
            </a:r>
            <a:r>
              <a:rPr lang="en-IN" sz="1900" dirty="0" err="1"/>
              <a:t>test_size</a:t>
            </a:r>
            <a:r>
              <a:rPr lang="en-IN" sz="1900" dirty="0"/>
              <a:t>=0.2) global accuracy, precision, recall, </a:t>
            </a:r>
            <a:r>
              <a:rPr lang="en-IN" sz="1900" dirty="0" err="1"/>
              <a:t>fscore</a:t>
            </a:r>
            <a:r>
              <a:rPr lang="en-IN" sz="1900" dirty="0"/>
              <a:t> </a:t>
            </a:r>
            <a:r>
              <a:rPr lang="en-IN" sz="1900" dirty="0" err="1"/>
              <a:t>svm_cls</a:t>
            </a:r>
            <a:r>
              <a:rPr lang="en-IN" sz="1900" dirty="0"/>
              <a:t> = </a:t>
            </a:r>
            <a:r>
              <a:rPr lang="en-IN" sz="1900" dirty="0" err="1"/>
              <a:t>svm.SVC</a:t>
            </a:r>
            <a:r>
              <a:rPr lang="en-IN" sz="1900" dirty="0"/>
              <a:t>(C=2.0, kernel="sigmoid") </a:t>
            </a:r>
            <a:r>
              <a:rPr lang="en-IN" sz="1900" dirty="0" err="1"/>
              <a:t>svm_cls.fit</a:t>
            </a:r>
            <a:r>
              <a:rPr lang="en-IN" sz="1900" dirty="0"/>
              <a:t>(</a:t>
            </a:r>
            <a:r>
              <a:rPr lang="en-IN" sz="1900" dirty="0" err="1"/>
              <a:t>X_train,y_train</a:t>
            </a:r>
            <a:r>
              <a:rPr lang="en-IN" sz="1900" dirty="0"/>
              <a:t>) predict = </a:t>
            </a:r>
            <a:r>
              <a:rPr lang="en-IN" sz="1900" dirty="0" err="1"/>
              <a:t>svm_cls.predict</a:t>
            </a:r>
            <a:r>
              <a:rPr lang="en-IN" sz="1900" dirty="0"/>
              <a:t>(</a:t>
            </a:r>
            <a:r>
              <a:rPr lang="en-IN" sz="1900" dirty="0" err="1"/>
              <a:t>X_test</a:t>
            </a:r>
            <a:r>
              <a:rPr lang="en-IN" sz="1900" dirty="0"/>
              <a:t>) </a:t>
            </a:r>
          </a:p>
          <a:p>
            <a:pPr marL="0" indent="0">
              <a:buNone/>
            </a:pPr>
            <a:r>
              <a:rPr lang="en-IN" sz="1900" dirty="0" err="1"/>
              <a:t>calculateMetrics</a:t>
            </a:r>
            <a:r>
              <a:rPr lang="en-IN" sz="1900" dirty="0"/>
              <a:t>("</a:t>
            </a:r>
            <a:r>
              <a:rPr lang="en-IN" sz="1900" dirty="0" err="1"/>
              <a:t>EfficientNet</a:t>
            </a:r>
            <a:r>
              <a:rPr lang="en-IN" sz="1900" dirty="0"/>
              <a:t>-SVM", predict, </a:t>
            </a:r>
            <a:r>
              <a:rPr lang="en-IN" sz="1900" dirty="0" err="1"/>
              <a:t>y_test</a:t>
            </a:r>
            <a:r>
              <a:rPr lang="en-IN" sz="1900" dirty="0"/>
              <a:t>) </a:t>
            </a:r>
          </a:p>
          <a:p>
            <a:pPr marL="0" indent="0">
              <a:buNone/>
            </a:pPr>
            <a:r>
              <a:rPr lang="en-IN" sz="1900" dirty="0"/>
              <a:t> def rf(): </a:t>
            </a:r>
          </a:p>
          <a:p>
            <a:pPr marL="0" indent="0">
              <a:buNone/>
            </a:pPr>
            <a:r>
              <a:rPr lang="en-IN" sz="1900" dirty="0"/>
              <a:t>global vectorizer, X, Y </a:t>
            </a:r>
          </a:p>
          <a:p>
            <a:pPr marL="0" indent="0">
              <a:buNone/>
            </a:pPr>
            <a:r>
              <a:rPr lang="en-IN" sz="1900" dirty="0"/>
              <a:t> # Check if Y is 2D (one-hot encoded) and transform it to 1D if </a:t>
            </a:r>
            <a:r>
              <a:rPr lang="en-IN" sz="1900" dirty="0" err="1"/>
              <a:t>len</a:t>
            </a:r>
            <a:r>
              <a:rPr lang="en-IN" sz="1900" dirty="0"/>
              <a:t>(</a:t>
            </a:r>
            <a:r>
              <a:rPr lang="en-IN" sz="1900" dirty="0" err="1"/>
              <a:t>Y.shape</a:t>
            </a:r>
            <a:r>
              <a:rPr lang="en-IN" sz="1900" dirty="0"/>
              <a:t>) &gt; 1 and </a:t>
            </a:r>
            <a:r>
              <a:rPr lang="en-IN" sz="1900" dirty="0" err="1"/>
              <a:t>Y.shape</a:t>
            </a:r>
            <a:r>
              <a:rPr lang="en-IN" sz="1900" dirty="0"/>
              <a:t>[1] &gt; 1: </a:t>
            </a:r>
          </a:p>
          <a:p>
            <a:pPr marL="0" indent="0">
              <a:buNone/>
            </a:pPr>
            <a:r>
              <a:rPr lang="en-IN" sz="1900" dirty="0"/>
              <a:t>Y = </a:t>
            </a:r>
            <a:r>
              <a:rPr lang="en-IN" sz="1900" dirty="0" err="1"/>
              <a:t>np.argmax</a:t>
            </a:r>
            <a:r>
              <a:rPr lang="en-IN" sz="1900" dirty="0"/>
              <a:t>(Y, axis=1) # Convert one-hot encoded labels to class indices </a:t>
            </a:r>
          </a:p>
          <a:p>
            <a:pPr marL="0" indent="0">
              <a:buNone/>
            </a:pPr>
            <a:r>
              <a:rPr lang="en-IN" sz="1900" dirty="0"/>
              <a:t> # Split data into training and testing sets </a:t>
            </a:r>
          </a:p>
          <a:p>
            <a:pPr marL="0" indent="0">
              <a:buNone/>
            </a:pPr>
            <a:r>
              <a:rPr lang="en-IN" sz="1900" dirty="0" err="1"/>
              <a:t>X_train</a:t>
            </a:r>
            <a:r>
              <a:rPr lang="en-IN" sz="1900" dirty="0"/>
              <a:t>, </a:t>
            </a:r>
            <a:r>
              <a:rPr lang="en-IN" sz="1900" dirty="0" err="1"/>
              <a:t>X_test</a:t>
            </a:r>
            <a:r>
              <a:rPr lang="en-IN" sz="1900" dirty="0"/>
              <a:t>, </a:t>
            </a:r>
            <a:r>
              <a:rPr lang="en-IN" sz="1900" dirty="0" err="1"/>
              <a:t>y_train</a:t>
            </a:r>
            <a:r>
              <a:rPr lang="en-IN" sz="1900" dirty="0"/>
              <a:t>, </a:t>
            </a:r>
            <a:r>
              <a:rPr lang="en-IN" sz="1900" dirty="0" err="1"/>
              <a:t>y_test</a:t>
            </a:r>
            <a:r>
              <a:rPr lang="en-IN" sz="1900" dirty="0"/>
              <a:t> = </a:t>
            </a:r>
            <a:r>
              <a:rPr lang="en-IN" sz="1900" dirty="0" err="1"/>
              <a:t>train_test_split</a:t>
            </a:r>
            <a:r>
              <a:rPr lang="en-IN" sz="1900" dirty="0"/>
              <a:t>(X, Y, </a:t>
            </a:r>
            <a:r>
              <a:rPr lang="en-IN" sz="1900" dirty="0" err="1"/>
              <a:t>test_size</a:t>
            </a:r>
            <a:r>
              <a:rPr lang="en-IN" sz="1900" dirty="0"/>
              <a:t>=0.2) </a:t>
            </a:r>
          </a:p>
          <a:p>
            <a:pPr marL="0" indent="0">
              <a:buNone/>
            </a:pPr>
            <a:r>
              <a:rPr lang="en-IN" sz="1900" dirty="0"/>
              <a:t> # Initialize </a:t>
            </a:r>
            <a:r>
              <a:rPr lang="en-IN" sz="1900" dirty="0" err="1"/>
              <a:t>RandomForestClassifier</a:t>
            </a:r>
            <a:r>
              <a:rPr lang="en-IN" sz="1900" dirty="0"/>
              <a:t> and train the model global accuracy, precision, recall, </a:t>
            </a:r>
            <a:r>
              <a:rPr lang="en-IN" sz="1900" dirty="0" err="1"/>
              <a:t>fscore</a:t>
            </a:r>
            <a:r>
              <a:rPr lang="en-IN" sz="1900" dirty="0"/>
              <a:t> </a:t>
            </a:r>
          </a:p>
          <a:p>
            <a:pPr marL="0" indent="0">
              <a:buNone/>
            </a:pPr>
            <a:r>
              <a:rPr lang="en-IN" sz="1900" dirty="0" err="1"/>
              <a:t>rf_model</a:t>
            </a:r>
            <a:r>
              <a:rPr lang="en-IN" sz="1900" dirty="0"/>
              <a:t> = </a:t>
            </a:r>
            <a:r>
              <a:rPr lang="en-IN" sz="1900" dirty="0" err="1"/>
              <a:t>RandomForestClassifier</a:t>
            </a:r>
            <a:r>
              <a:rPr lang="en-IN" sz="1900" dirty="0"/>
              <a:t>(</a:t>
            </a:r>
            <a:r>
              <a:rPr lang="en-IN" sz="1900" dirty="0" err="1"/>
              <a:t>n_estimators</a:t>
            </a:r>
            <a:r>
              <a:rPr lang="en-IN" sz="1900" dirty="0"/>
              <a:t>=100, </a:t>
            </a:r>
            <a:r>
              <a:rPr lang="en-IN" sz="1900" dirty="0" err="1"/>
              <a:t>random_state</a:t>
            </a:r>
            <a:r>
              <a:rPr lang="en-IN" sz="1900" dirty="0"/>
              <a:t>=42) </a:t>
            </a:r>
            <a:r>
              <a:rPr lang="en-IN" sz="1900" dirty="0" err="1"/>
              <a:t>rf_model.fit</a:t>
            </a:r>
            <a:r>
              <a:rPr lang="en-IN" sz="1900" dirty="0"/>
              <a:t>(</a:t>
            </a:r>
            <a:r>
              <a:rPr lang="en-IN" sz="1900" dirty="0" err="1"/>
              <a:t>X_train</a:t>
            </a:r>
            <a:r>
              <a:rPr lang="en-IN" sz="1900" dirty="0"/>
              <a:t>, </a:t>
            </a:r>
            <a:r>
              <a:rPr lang="en-IN" sz="1900" dirty="0" err="1"/>
              <a:t>y_train</a:t>
            </a:r>
            <a:r>
              <a:rPr lang="en-IN" sz="1900" dirty="0"/>
              <a:t>) </a:t>
            </a:r>
          </a:p>
          <a:p>
            <a:pPr marL="0" indent="0">
              <a:buNone/>
            </a:pPr>
            <a:r>
              <a:rPr lang="en-IN" sz="1900" dirty="0"/>
              <a:t># Make predictions and evaluate metrics predict = </a:t>
            </a:r>
            <a:r>
              <a:rPr lang="en-IN" sz="1900" dirty="0" err="1"/>
              <a:t>rf_model.predict</a:t>
            </a:r>
            <a:r>
              <a:rPr lang="en-IN" sz="1900" dirty="0"/>
              <a:t>(</a:t>
            </a:r>
            <a:r>
              <a:rPr lang="en-IN" sz="1900" dirty="0" err="1"/>
              <a:t>X_test</a:t>
            </a:r>
            <a:r>
              <a:rPr lang="en-IN" sz="1900" dirty="0"/>
              <a:t>) </a:t>
            </a:r>
          </a:p>
          <a:p>
            <a:pPr marL="0" indent="0">
              <a:buNone/>
            </a:pPr>
            <a:r>
              <a:rPr lang="en-IN" sz="1900" dirty="0" err="1"/>
              <a:t>calculateMetrics</a:t>
            </a:r>
            <a:r>
              <a:rPr lang="en-IN" sz="1900" dirty="0"/>
              <a:t>("</a:t>
            </a:r>
            <a:r>
              <a:rPr lang="en-IN" sz="1900" dirty="0" err="1"/>
              <a:t>EfficientNet</a:t>
            </a:r>
            <a:r>
              <a:rPr lang="en-IN" sz="1900" dirty="0"/>
              <a:t>-RFC", predict, </a:t>
            </a:r>
            <a:r>
              <a:rPr lang="en-IN" sz="1900" dirty="0" err="1"/>
              <a:t>y_test</a:t>
            </a:r>
            <a:r>
              <a:rPr lang="en-IN" sz="1900" dirty="0"/>
              <a:t>)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442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0A25E79-74CB-38F5-9E61-18241EDEF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354013"/>
            <a:ext cx="11650662" cy="6391275"/>
          </a:xfrm>
        </p:spPr>
        <p:txBody>
          <a:bodyPr>
            <a:normAutofit fontScale="52500" lnSpcReduction="20000"/>
          </a:bodyPr>
          <a:lstStyle/>
          <a:p>
            <a:pPr marL="0" indent="0">
              <a:buNone/>
            </a:pPr>
            <a:r>
              <a:rPr lang="en-IN" dirty="0"/>
              <a:t>def </a:t>
            </a:r>
            <a:r>
              <a:rPr lang="en-IN" dirty="0" err="1"/>
              <a:t>runProposeAlgorithms</a:t>
            </a:r>
            <a:r>
              <a:rPr lang="en-IN" dirty="0"/>
              <a:t>(): </a:t>
            </a:r>
            <a:r>
              <a:rPr lang="en-IN" dirty="0" err="1"/>
              <a:t>text.delete</a:t>
            </a:r>
            <a:r>
              <a:rPr lang="en-IN" dirty="0"/>
              <a:t>('1.0', END) </a:t>
            </a:r>
          </a:p>
          <a:p>
            <a:pPr marL="0" indent="0">
              <a:buNone/>
            </a:pPr>
            <a:r>
              <a:rPr lang="en-IN" dirty="0"/>
              <a:t>global </a:t>
            </a:r>
            <a:r>
              <a:rPr lang="en-IN" dirty="0" err="1"/>
              <a:t>bilstm_model</a:t>
            </a:r>
            <a:r>
              <a:rPr lang="en-IN" dirty="0"/>
              <a:t>, </a:t>
            </a:r>
            <a:r>
              <a:rPr lang="en-IN" dirty="0" err="1"/>
              <a:t>cnn_model</a:t>
            </a:r>
            <a:r>
              <a:rPr lang="en-IN" dirty="0"/>
              <a:t>, X, Y global accuracy, precision, recall, </a:t>
            </a:r>
            <a:r>
              <a:rPr lang="en-IN" dirty="0" err="1"/>
              <a:t>fscore</a:t>
            </a:r>
            <a:r>
              <a:rPr lang="en-IN" dirty="0"/>
              <a:t> </a:t>
            </a:r>
            <a:r>
              <a:rPr lang="en-IN" dirty="0" err="1"/>
              <a:t>accuracy.clear</a:t>
            </a:r>
            <a:r>
              <a:rPr lang="en-IN" dirty="0"/>
              <a:t>() </a:t>
            </a:r>
            <a:r>
              <a:rPr lang="en-IN" dirty="0" err="1"/>
              <a:t>precision.clear</a:t>
            </a:r>
            <a:r>
              <a:rPr lang="en-IN" dirty="0"/>
              <a:t>() </a:t>
            </a:r>
            <a:r>
              <a:rPr lang="en-IN" dirty="0" err="1"/>
              <a:t>recall.clear</a:t>
            </a:r>
            <a:r>
              <a:rPr lang="en-IN" dirty="0"/>
              <a:t>() </a:t>
            </a:r>
            <a:r>
              <a:rPr lang="en-IN" dirty="0" err="1"/>
              <a:t>fscore.clear</a:t>
            </a:r>
            <a:r>
              <a:rPr lang="en-IN" dirty="0"/>
              <a:t>()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X_test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, </a:t>
            </a:r>
            <a:r>
              <a:rPr lang="en-IN" dirty="0" err="1"/>
              <a:t>y_test</a:t>
            </a:r>
            <a:r>
              <a:rPr lang="en-IN" dirty="0"/>
              <a:t> = </a:t>
            </a:r>
            <a:r>
              <a:rPr lang="en-IN" dirty="0" err="1"/>
              <a:t>train_test_split</a:t>
            </a:r>
            <a:r>
              <a:rPr lang="en-IN" dirty="0"/>
              <a:t>(X, Y, </a:t>
            </a:r>
            <a:r>
              <a:rPr lang="en-IN" dirty="0" err="1"/>
              <a:t>test_size</a:t>
            </a:r>
            <a:r>
              <a:rPr lang="en-IN" dirty="0"/>
              <a:t>=0.2) #split dataset into train and </a:t>
            </a:r>
            <a:r>
              <a:rPr lang="en-IN" dirty="0" err="1"/>
              <a:t>tesrt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 err="1"/>
              <a:t>eb</a:t>
            </a:r>
            <a:r>
              <a:rPr lang="en-IN" dirty="0"/>
              <a:t> = EfficientNetB7(</a:t>
            </a:r>
            <a:r>
              <a:rPr lang="en-IN" dirty="0" err="1"/>
              <a:t>input_shape</a:t>
            </a:r>
            <a:r>
              <a:rPr lang="en-IN" dirty="0"/>
              <a:t>=(</a:t>
            </a:r>
            <a:r>
              <a:rPr lang="en-IN" dirty="0" err="1"/>
              <a:t>X_train.shape</a:t>
            </a:r>
            <a:r>
              <a:rPr lang="en-IN" dirty="0"/>
              <a:t>[1], </a:t>
            </a:r>
            <a:r>
              <a:rPr lang="en-IN" dirty="0" err="1"/>
              <a:t>X_train.shape</a:t>
            </a:r>
            <a:r>
              <a:rPr lang="en-IN" dirty="0"/>
              <a:t>[2], </a:t>
            </a:r>
          </a:p>
          <a:p>
            <a:pPr marL="0" indent="0">
              <a:buNone/>
            </a:pPr>
            <a:r>
              <a:rPr lang="en-IN" dirty="0" err="1"/>
              <a:t>X_train.shape</a:t>
            </a:r>
            <a:r>
              <a:rPr lang="en-IN" dirty="0"/>
              <a:t>[3]), </a:t>
            </a:r>
            <a:r>
              <a:rPr lang="en-IN" dirty="0" err="1"/>
              <a:t>include_top</a:t>
            </a:r>
            <a:r>
              <a:rPr lang="en-IN" dirty="0"/>
              <a:t>=False, weights=None) </a:t>
            </a:r>
            <a:r>
              <a:rPr lang="en-IN" dirty="0" err="1"/>
              <a:t>eb.trainable</a:t>
            </a:r>
            <a:r>
              <a:rPr lang="en-IN" dirty="0"/>
              <a:t> = False </a:t>
            </a:r>
            <a:r>
              <a:rPr lang="en-IN" dirty="0" err="1"/>
              <a:t>cnn_model</a:t>
            </a:r>
            <a:r>
              <a:rPr lang="en-IN" dirty="0"/>
              <a:t> = Sequential() </a:t>
            </a:r>
            <a:r>
              <a:rPr lang="en-IN" dirty="0" err="1"/>
              <a:t>cnn_model.add</a:t>
            </a:r>
            <a:r>
              <a:rPr lang="en-IN" dirty="0"/>
              <a:t>(</a:t>
            </a:r>
            <a:r>
              <a:rPr lang="en-IN" dirty="0" err="1"/>
              <a:t>eb</a:t>
            </a:r>
            <a:r>
              <a:rPr lang="en-IN" dirty="0"/>
              <a:t>) </a:t>
            </a:r>
          </a:p>
          <a:p>
            <a:pPr marL="0" indent="0">
              <a:buNone/>
            </a:pPr>
            <a:r>
              <a:rPr lang="en-IN" dirty="0" err="1"/>
              <a:t>cnn_model.add</a:t>
            </a:r>
            <a:r>
              <a:rPr lang="en-IN" dirty="0"/>
              <a:t>(Convolution2D(32, (1, 1), </a:t>
            </a:r>
            <a:r>
              <a:rPr lang="en-IN" dirty="0" err="1"/>
              <a:t>input_shape</a:t>
            </a:r>
            <a:r>
              <a:rPr lang="en-IN" dirty="0"/>
              <a:t> = (</a:t>
            </a:r>
            <a:r>
              <a:rPr lang="en-IN" dirty="0" err="1"/>
              <a:t>X_train.shape</a:t>
            </a:r>
            <a:r>
              <a:rPr lang="en-IN" dirty="0"/>
              <a:t>[1], </a:t>
            </a:r>
          </a:p>
          <a:p>
            <a:pPr marL="0" indent="0">
              <a:buNone/>
            </a:pPr>
            <a:r>
              <a:rPr lang="en-IN" dirty="0" err="1"/>
              <a:t>X_train.shape</a:t>
            </a:r>
            <a:r>
              <a:rPr lang="en-IN" dirty="0"/>
              <a:t>[2], </a:t>
            </a:r>
            <a:r>
              <a:rPr lang="en-IN" dirty="0" err="1"/>
              <a:t>X_train.shape</a:t>
            </a:r>
            <a:r>
              <a:rPr lang="en-IN" dirty="0"/>
              <a:t>[3]), activation = '</a:t>
            </a:r>
            <a:r>
              <a:rPr lang="en-IN" dirty="0" err="1"/>
              <a:t>relu</a:t>
            </a:r>
            <a:r>
              <a:rPr lang="en-IN" dirty="0"/>
              <a:t>')) </a:t>
            </a:r>
            <a:r>
              <a:rPr lang="en-IN" dirty="0" err="1"/>
              <a:t>cnn_model.add</a:t>
            </a:r>
            <a:r>
              <a:rPr lang="en-IN" dirty="0"/>
              <a:t>(MaxPooling2D(</a:t>
            </a:r>
            <a:r>
              <a:rPr lang="en-IN" dirty="0" err="1"/>
              <a:t>pool_size</a:t>
            </a:r>
            <a:r>
              <a:rPr lang="en-IN" dirty="0"/>
              <a:t> = (1, 1))) </a:t>
            </a:r>
            <a:r>
              <a:rPr lang="en-IN" dirty="0" err="1"/>
              <a:t>cnn_model.add</a:t>
            </a:r>
            <a:r>
              <a:rPr lang="en-IN" dirty="0"/>
              <a:t>(Convolution2D(32, (1, 1), activation = '</a:t>
            </a:r>
            <a:r>
              <a:rPr lang="en-IN" dirty="0" err="1"/>
              <a:t>relu</a:t>
            </a:r>
            <a:r>
              <a:rPr lang="en-IN" dirty="0"/>
              <a:t>')) </a:t>
            </a:r>
            <a:r>
              <a:rPr lang="en-IN" dirty="0" err="1"/>
              <a:t>cnn_model.add</a:t>
            </a:r>
            <a:r>
              <a:rPr lang="en-IN" dirty="0"/>
              <a:t>(MaxPooling2D(</a:t>
            </a:r>
            <a:r>
              <a:rPr lang="en-IN" dirty="0" err="1"/>
              <a:t>pool_size</a:t>
            </a:r>
            <a:r>
              <a:rPr lang="en-IN" dirty="0"/>
              <a:t> = (1, 1))) </a:t>
            </a:r>
            <a:r>
              <a:rPr lang="en-IN" dirty="0" err="1"/>
              <a:t>cnn_model.add</a:t>
            </a:r>
            <a:r>
              <a:rPr lang="en-IN" dirty="0"/>
              <a:t>(Flatten()) </a:t>
            </a:r>
          </a:p>
          <a:p>
            <a:pPr marL="0" indent="0">
              <a:buNone/>
            </a:pPr>
            <a:r>
              <a:rPr lang="en-IN" dirty="0" err="1"/>
              <a:t>cnn_model.add</a:t>
            </a:r>
            <a:r>
              <a:rPr lang="en-IN" dirty="0"/>
              <a:t>(Dense(units = 256, activation = '</a:t>
            </a:r>
            <a:r>
              <a:rPr lang="en-IN" dirty="0" err="1"/>
              <a:t>relu</a:t>
            </a:r>
            <a:r>
              <a:rPr lang="en-IN" dirty="0"/>
              <a:t>')) </a:t>
            </a:r>
          </a:p>
          <a:p>
            <a:pPr marL="0" indent="0">
              <a:buNone/>
            </a:pPr>
            <a:r>
              <a:rPr lang="en-IN" dirty="0" err="1"/>
              <a:t>cnn_model.add</a:t>
            </a:r>
            <a:r>
              <a:rPr lang="en-IN" dirty="0"/>
              <a:t>(Dense(units = </a:t>
            </a:r>
            <a:r>
              <a:rPr lang="en-IN" dirty="0" err="1"/>
              <a:t>y_train.shape</a:t>
            </a:r>
            <a:r>
              <a:rPr lang="en-IN" dirty="0"/>
              <a:t>[1], activation = '</a:t>
            </a:r>
            <a:r>
              <a:rPr lang="en-IN" dirty="0" err="1"/>
              <a:t>softmax</a:t>
            </a:r>
            <a:r>
              <a:rPr lang="en-IN" dirty="0"/>
              <a:t>')) </a:t>
            </a:r>
            <a:r>
              <a:rPr lang="en-IN" dirty="0" err="1"/>
              <a:t>cnn_model.compile</a:t>
            </a:r>
            <a:r>
              <a:rPr lang="en-IN" dirty="0"/>
              <a:t>(optimizer = '</a:t>
            </a:r>
            <a:r>
              <a:rPr lang="en-IN" dirty="0" err="1"/>
              <a:t>adam</a:t>
            </a:r>
            <a:r>
              <a:rPr lang="en-IN" dirty="0"/>
              <a:t>', loss = '</a:t>
            </a:r>
            <a:r>
              <a:rPr lang="en-IN" dirty="0" err="1"/>
              <a:t>categorical_crossentropy</a:t>
            </a:r>
            <a:r>
              <a:rPr lang="en-IN" dirty="0"/>
              <a:t>', metrics </a:t>
            </a:r>
          </a:p>
          <a:p>
            <a:pPr marL="0" indent="0">
              <a:buNone/>
            </a:pPr>
            <a:r>
              <a:rPr lang="en-IN" dirty="0"/>
              <a:t>= ['accuracy']) if </a:t>
            </a:r>
            <a:r>
              <a:rPr lang="en-IN" dirty="0" err="1"/>
              <a:t>os.path.exists</a:t>
            </a:r>
            <a:r>
              <a:rPr lang="en-IN" dirty="0"/>
              <a:t>("model/model_weights.hdf5") == False: </a:t>
            </a:r>
          </a:p>
          <a:p>
            <a:pPr marL="0" indent="0">
              <a:buNone/>
            </a:pPr>
            <a:r>
              <a:rPr lang="en-IN" dirty="0" err="1"/>
              <a:t>model_check_poin</a:t>
            </a:r>
            <a:r>
              <a:rPr lang="en-IN" dirty="0"/>
              <a:t> = </a:t>
            </a:r>
            <a:r>
              <a:rPr lang="en-IN" dirty="0" err="1"/>
              <a:t>ModelCheckpoint</a:t>
            </a:r>
            <a:r>
              <a:rPr lang="en-IN" dirty="0"/>
              <a:t>(</a:t>
            </a:r>
            <a:r>
              <a:rPr lang="en-IN" dirty="0" err="1"/>
              <a:t>filepath</a:t>
            </a:r>
            <a:r>
              <a:rPr lang="en-IN" dirty="0"/>
              <a:t>='model/model_weights.hdf5', </a:t>
            </a:r>
          </a:p>
          <a:p>
            <a:pPr marL="0" indent="0">
              <a:buNone/>
            </a:pPr>
            <a:r>
              <a:rPr lang="en-IN" dirty="0"/>
              <a:t>verbose = 1, </a:t>
            </a:r>
          </a:p>
          <a:p>
            <a:pPr marL="0" indent="0">
              <a:buNone/>
            </a:pPr>
            <a:r>
              <a:rPr lang="en-IN" dirty="0" err="1"/>
              <a:t>save_best_only</a:t>
            </a:r>
            <a:r>
              <a:rPr lang="en-IN" dirty="0"/>
              <a:t> = True) hist = </a:t>
            </a:r>
            <a:r>
              <a:rPr lang="en-IN" dirty="0" err="1"/>
              <a:t>cnn_model.fit</a:t>
            </a:r>
            <a:r>
              <a:rPr lang="en-IN" dirty="0"/>
              <a:t>(</a:t>
            </a:r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, </a:t>
            </a:r>
            <a:r>
              <a:rPr lang="en-IN" dirty="0" err="1"/>
              <a:t>batch_size</a:t>
            </a:r>
            <a:r>
              <a:rPr lang="en-IN" dirty="0"/>
              <a:t> = 32, epochs = 50, </a:t>
            </a:r>
          </a:p>
          <a:p>
            <a:pPr marL="0" indent="0">
              <a:buNone/>
            </a:pPr>
            <a:r>
              <a:rPr lang="en-IN" dirty="0" err="1"/>
              <a:t>validation_data</a:t>
            </a:r>
            <a:r>
              <a:rPr lang="en-IN" dirty="0"/>
              <a:t>=(</a:t>
            </a:r>
            <a:r>
              <a:rPr lang="en-IN" dirty="0" err="1"/>
              <a:t>X_test</a:t>
            </a:r>
            <a:r>
              <a:rPr lang="en-IN" dirty="0"/>
              <a:t>, </a:t>
            </a:r>
            <a:r>
              <a:rPr lang="en-IN" dirty="0" err="1"/>
              <a:t>y_test</a:t>
            </a:r>
            <a:r>
              <a:rPr lang="en-IN" dirty="0"/>
              <a:t>), callbacks=[</a:t>
            </a:r>
            <a:r>
              <a:rPr lang="en-IN" dirty="0" err="1"/>
              <a:t>model_check_point</a:t>
            </a:r>
            <a:r>
              <a:rPr lang="en-IN" dirty="0"/>
              <a:t>], verbose=1) f = open('model/</a:t>
            </a:r>
            <a:r>
              <a:rPr lang="en-IN" dirty="0" err="1"/>
              <a:t>history.pckl</a:t>
            </a:r>
            <a:r>
              <a:rPr lang="en-IN" dirty="0"/>
              <a:t>', '</a:t>
            </a:r>
            <a:r>
              <a:rPr lang="en-IN" dirty="0" err="1"/>
              <a:t>wb</a:t>
            </a:r>
            <a:r>
              <a:rPr lang="en-IN" dirty="0"/>
              <a:t>') </a:t>
            </a:r>
            <a:r>
              <a:rPr lang="en-IN" dirty="0" err="1"/>
              <a:t>pickle.dump</a:t>
            </a:r>
            <a:r>
              <a:rPr lang="en-IN" dirty="0"/>
              <a:t>(</a:t>
            </a:r>
            <a:r>
              <a:rPr lang="en-IN" dirty="0" err="1"/>
              <a:t>hist.history</a:t>
            </a:r>
            <a:r>
              <a:rPr lang="en-IN" dirty="0"/>
              <a:t>, f) </a:t>
            </a:r>
          </a:p>
          <a:p>
            <a:pPr marL="0" indent="0">
              <a:buNone/>
            </a:pPr>
            <a:r>
              <a:rPr lang="en-IN" dirty="0" err="1"/>
              <a:t>f.close</a:t>
            </a:r>
            <a:r>
              <a:rPr lang="en-IN" dirty="0"/>
              <a:t>() </a:t>
            </a:r>
          </a:p>
          <a:p>
            <a:pPr marL="0" indent="0">
              <a:buNone/>
            </a:pPr>
            <a:r>
              <a:rPr lang="en-IN" dirty="0"/>
              <a:t>else: </a:t>
            </a:r>
          </a:p>
          <a:p>
            <a:pPr marL="0" indent="0">
              <a:buNone/>
            </a:pPr>
            <a:r>
              <a:rPr lang="en-IN" dirty="0" err="1"/>
              <a:t>cnn_model</a:t>
            </a:r>
            <a:r>
              <a:rPr lang="en-IN" dirty="0"/>
              <a:t> = </a:t>
            </a:r>
            <a:r>
              <a:rPr lang="en-IN" dirty="0" err="1"/>
              <a:t>load_model</a:t>
            </a:r>
            <a:r>
              <a:rPr lang="en-IN" dirty="0"/>
              <a:t>("model/model_weights.hdf5") </a:t>
            </a:r>
          </a:p>
          <a:p>
            <a:pPr marL="0" indent="0">
              <a:buNone/>
            </a:pPr>
            <a:r>
              <a:rPr lang="en-IN" dirty="0" err="1"/>
              <a:t>cnn_model</a:t>
            </a:r>
            <a:r>
              <a:rPr lang="en-IN" dirty="0"/>
              <a:t> = Model(</a:t>
            </a:r>
            <a:r>
              <a:rPr lang="en-IN" dirty="0" err="1"/>
              <a:t>cnn_model.inputs</a:t>
            </a:r>
            <a:r>
              <a:rPr lang="en-IN" dirty="0"/>
              <a:t>, </a:t>
            </a:r>
            <a:r>
              <a:rPr lang="en-IN" dirty="0" err="1"/>
              <a:t>cnn_model.layers</a:t>
            </a:r>
            <a:r>
              <a:rPr lang="en-IN" dirty="0"/>
              <a:t>[-2].output)#creating </a:t>
            </a:r>
          </a:p>
          <a:p>
            <a:pPr marL="0" indent="0">
              <a:buNone/>
            </a:pPr>
            <a:r>
              <a:rPr lang="en-IN" dirty="0" err="1"/>
              <a:t>cnn</a:t>
            </a:r>
            <a:r>
              <a:rPr lang="en-IN" dirty="0"/>
              <a:t> model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89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F58075-8C38-C7E7-6C4D-9576A3646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538" y="246063"/>
            <a:ext cx="11690350" cy="6469062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IN" sz="1600" dirty="0" err="1"/>
              <a:t>cnn_features</a:t>
            </a:r>
            <a:r>
              <a:rPr lang="en-IN" sz="1600" dirty="0"/>
              <a:t> = </a:t>
            </a:r>
            <a:r>
              <a:rPr lang="en-IN" sz="1600" dirty="0" err="1"/>
              <a:t>cnn_model.predict</a:t>
            </a:r>
            <a:r>
              <a:rPr lang="en-IN" sz="1600" dirty="0"/>
              <a:t>(X) #extracting </a:t>
            </a:r>
            <a:r>
              <a:rPr lang="en-IN" sz="1600" dirty="0" err="1"/>
              <a:t>cnn</a:t>
            </a:r>
            <a:r>
              <a:rPr lang="en-IN" sz="1600" dirty="0"/>
              <a:t> features from test data X = </a:t>
            </a:r>
            <a:r>
              <a:rPr lang="en-IN" sz="1600" dirty="0" err="1"/>
              <a:t>cnn_features</a:t>
            </a:r>
            <a:r>
              <a:rPr lang="en-IN" sz="1600" dirty="0"/>
              <a:t> print(</a:t>
            </a:r>
            <a:r>
              <a:rPr lang="en-IN" sz="1600" dirty="0" err="1"/>
              <a:t>X.shape</a:t>
            </a:r>
            <a:r>
              <a:rPr lang="en-IN" sz="1600" dirty="0"/>
              <a:t>) </a:t>
            </a:r>
          </a:p>
          <a:p>
            <a:pPr marL="0" indent="0">
              <a:buNone/>
            </a:pPr>
            <a:r>
              <a:rPr lang="en-IN" sz="1600" dirty="0" err="1"/>
              <a:t>cnn_features</a:t>
            </a:r>
            <a:r>
              <a:rPr lang="en-IN" sz="1600" dirty="0"/>
              <a:t> = </a:t>
            </a:r>
            <a:r>
              <a:rPr lang="en-IN" sz="1600" dirty="0" err="1"/>
              <a:t>np.reshape</a:t>
            </a:r>
            <a:r>
              <a:rPr lang="en-IN" sz="1600" dirty="0"/>
              <a:t>(</a:t>
            </a:r>
            <a:r>
              <a:rPr lang="en-IN" sz="1600" dirty="0" err="1"/>
              <a:t>cnn_features</a:t>
            </a:r>
            <a:r>
              <a:rPr lang="en-IN" sz="1600" dirty="0"/>
              <a:t>, (</a:t>
            </a:r>
            <a:r>
              <a:rPr lang="en-IN" sz="1600" dirty="0" err="1"/>
              <a:t>cnn_features.shape</a:t>
            </a:r>
            <a:r>
              <a:rPr lang="en-IN" sz="1600" dirty="0"/>
              <a:t>[0], 16, 16)) </a:t>
            </a:r>
            <a:r>
              <a:rPr lang="en-IN" sz="1600" dirty="0" err="1"/>
              <a:t>X_train</a:t>
            </a:r>
            <a:r>
              <a:rPr lang="en-IN" sz="1600" dirty="0"/>
              <a:t>, </a:t>
            </a:r>
            <a:r>
              <a:rPr lang="en-IN" sz="1600" dirty="0" err="1"/>
              <a:t>X_test</a:t>
            </a:r>
            <a:r>
              <a:rPr lang="en-IN" sz="1600" dirty="0"/>
              <a:t>, </a:t>
            </a:r>
            <a:r>
              <a:rPr lang="en-IN" sz="1600" dirty="0" err="1"/>
              <a:t>y_train</a:t>
            </a:r>
            <a:r>
              <a:rPr lang="en-IN" sz="1600" dirty="0"/>
              <a:t>, </a:t>
            </a:r>
            <a:r>
              <a:rPr lang="en-IN" sz="1600" dirty="0" err="1"/>
              <a:t>y_test</a:t>
            </a:r>
            <a:r>
              <a:rPr lang="en-IN" sz="1600" dirty="0"/>
              <a:t> = </a:t>
            </a:r>
            <a:r>
              <a:rPr lang="en-IN" sz="1600" dirty="0" err="1"/>
              <a:t>train_test_split</a:t>
            </a:r>
            <a:r>
              <a:rPr lang="en-IN" sz="1600" dirty="0"/>
              <a:t>(</a:t>
            </a:r>
            <a:r>
              <a:rPr lang="en-IN" sz="1600" dirty="0" err="1"/>
              <a:t>cnn_features</a:t>
            </a:r>
            <a:r>
              <a:rPr lang="en-IN" sz="1600" dirty="0"/>
              <a:t>, Y, </a:t>
            </a:r>
            <a:r>
              <a:rPr lang="en-IN" sz="1600" dirty="0" err="1"/>
              <a:t>test_size</a:t>
            </a:r>
            <a:r>
              <a:rPr lang="en-IN" sz="1600" dirty="0"/>
              <a:t>=0.2) </a:t>
            </a:r>
            <a:r>
              <a:rPr lang="en-IN" sz="1600" dirty="0" err="1"/>
              <a:t>bilstm_model</a:t>
            </a:r>
            <a:r>
              <a:rPr lang="en-IN" sz="1600" dirty="0"/>
              <a:t> = Sequential() #defining deep learning sequential object </a:t>
            </a:r>
          </a:p>
          <a:p>
            <a:pPr marL="0" indent="0">
              <a:buNone/>
            </a:pPr>
            <a:r>
              <a:rPr lang="en-IN" sz="1600" dirty="0"/>
              <a:t>#adding LSTM bidirectional layer with 32 filters to filter given input X train data to select relevant features </a:t>
            </a:r>
          </a:p>
          <a:p>
            <a:pPr marL="0" indent="0">
              <a:buNone/>
            </a:pPr>
            <a:r>
              <a:rPr lang="en-IN" sz="1600" dirty="0"/>
              <a:t>	</a:t>
            </a:r>
            <a:r>
              <a:rPr lang="en-IN" sz="1600" dirty="0" err="1"/>
              <a:t>bilstm_model.add</a:t>
            </a:r>
            <a:r>
              <a:rPr lang="en-IN" sz="1600" dirty="0"/>
              <a:t>(Bidirectional(LSTM(32, </a:t>
            </a:r>
            <a:r>
              <a:rPr lang="en-IN" sz="1600" dirty="0" err="1"/>
              <a:t>input_shape</a:t>
            </a:r>
            <a:r>
              <a:rPr lang="en-IN" sz="1600" dirty="0"/>
              <a:t>=(</a:t>
            </a:r>
            <a:r>
              <a:rPr lang="en-IN" sz="1600" dirty="0" err="1"/>
              <a:t>X_train.shape</a:t>
            </a:r>
            <a:r>
              <a:rPr lang="en-IN" sz="1600" dirty="0"/>
              <a:t>[1], </a:t>
            </a:r>
          </a:p>
          <a:p>
            <a:pPr marL="0" indent="0">
              <a:buNone/>
            </a:pPr>
            <a:r>
              <a:rPr lang="en-IN" sz="1600" dirty="0" err="1"/>
              <a:t>X_train.shape</a:t>
            </a:r>
            <a:r>
              <a:rPr lang="en-IN" sz="1600" dirty="0"/>
              <a:t>[2]), </a:t>
            </a:r>
            <a:r>
              <a:rPr lang="en-IN" sz="1600" dirty="0" err="1"/>
              <a:t>return_sequences</a:t>
            </a:r>
            <a:r>
              <a:rPr lang="en-IN" sz="1600" dirty="0"/>
              <a:t>=True))) #adding dropout layer to remove irrelevant features </a:t>
            </a:r>
            <a:r>
              <a:rPr lang="en-IN" sz="1600" dirty="0" err="1"/>
              <a:t>bilstm_model.add</a:t>
            </a:r>
            <a:r>
              <a:rPr lang="en-IN" sz="1600" dirty="0"/>
              <a:t>(Dropout(0.2)) #adding another layer </a:t>
            </a:r>
          </a:p>
          <a:p>
            <a:pPr marL="0" indent="0">
              <a:buNone/>
            </a:pPr>
            <a:r>
              <a:rPr lang="en-IN" sz="1600" dirty="0" err="1"/>
              <a:t>bilstm_model.add</a:t>
            </a:r>
            <a:r>
              <a:rPr lang="en-IN" sz="1600" dirty="0"/>
              <a:t>(Bidirectional(LSTM(32))) </a:t>
            </a:r>
            <a:r>
              <a:rPr lang="en-IN" sz="1600" dirty="0" err="1"/>
              <a:t>bilstm_model.add</a:t>
            </a:r>
            <a:r>
              <a:rPr lang="en-IN" sz="1600" dirty="0"/>
              <a:t>(Dropout(0.2)) #defining output layer for prediction </a:t>
            </a:r>
          </a:p>
          <a:p>
            <a:pPr marL="0" indent="0">
              <a:buNone/>
            </a:pPr>
            <a:r>
              <a:rPr lang="en-IN" sz="1600" dirty="0" err="1"/>
              <a:t>bilstm_model.add</a:t>
            </a:r>
            <a:r>
              <a:rPr lang="en-IN" sz="1600" dirty="0"/>
              <a:t>(Dense(</a:t>
            </a:r>
            <a:r>
              <a:rPr lang="en-IN" sz="1600" dirty="0" err="1"/>
              <a:t>y_train.shape</a:t>
            </a:r>
            <a:r>
              <a:rPr lang="en-IN" sz="1600" dirty="0"/>
              <a:t>[1], activation='</a:t>
            </a:r>
            <a:r>
              <a:rPr lang="en-IN" sz="1600" dirty="0" err="1"/>
              <a:t>softmax</a:t>
            </a:r>
            <a:r>
              <a:rPr lang="en-IN" sz="1600" dirty="0"/>
              <a:t>')) </a:t>
            </a:r>
          </a:p>
          <a:p>
            <a:pPr marL="0" indent="0">
              <a:buNone/>
            </a:pPr>
            <a:r>
              <a:rPr lang="en-IN" sz="1600" dirty="0"/>
              <a:t>#compile GRU model </a:t>
            </a:r>
          </a:p>
          <a:p>
            <a:pPr marL="0" indent="0">
              <a:buNone/>
            </a:pPr>
            <a:r>
              <a:rPr lang="en-IN" sz="1600" dirty="0"/>
              <a:t>	</a:t>
            </a:r>
            <a:r>
              <a:rPr lang="en-IN" sz="1600" dirty="0" err="1"/>
              <a:t>bilstm_model.compile</a:t>
            </a:r>
            <a:r>
              <a:rPr lang="en-IN" sz="1600" dirty="0"/>
              <a:t>(loss='</a:t>
            </a:r>
            <a:r>
              <a:rPr lang="en-IN" sz="1600" dirty="0" err="1"/>
              <a:t>categorical_crossentropy</a:t>
            </a:r>
            <a:r>
              <a:rPr lang="en-IN" sz="1600" dirty="0"/>
              <a:t>', optimizer='</a:t>
            </a:r>
            <a:r>
              <a:rPr lang="en-IN" sz="1600" dirty="0" err="1"/>
              <a:t>adam</a:t>
            </a:r>
            <a:r>
              <a:rPr lang="en-IN" sz="1600" dirty="0"/>
              <a:t>', </a:t>
            </a:r>
          </a:p>
          <a:p>
            <a:pPr marL="0" indent="0">
              <a:buNone/>
            </a:pPr>
            <a:r>
              <a:rPr lang="en-IN" sz="1600" dirty="0"/>
              <a:t>metrics=['accuracy']) </a:t>
            </a:r>
          </a:p>
          <a:p>
            <a:pPr marL="0" indent="0">
              <a:buNone/>
            </a:pPr>
            <a:r>
              <a:rPr lang="en-IN" sz="1600" dirty="0"/>
              <a:t>#start training model on train data and perform validation on test data if </a:t>
            </a:r>
            <a:r>
              <a:rPr lang="en-IN" sz="1600" dirty="0" err="1"/>
              <a:t>os.path.exists</a:t>
            </a:r>
            <a:r>
              <a:rPr lang="en-IN" sz="1600" dirty="0"/>
              <a:t>("model/bilstm_weights.hdf5") == False: </a:t>
            </a:r>
          </a:p>
          <a:p>
            <a:pPr marL="0" indent="0">
              <a:buNone/>
            </a:pPr>
            <a:r>
              <a:rPr lang="en-IN" sz="1600" dirty="0" err="1"/>
              <a:t>model_check_point</a:t>
            </a:r>
            <a:r>
              <a:rPr lang="en-IN" sz="1600" dirty="0"/>
              <a:t>= </a:t>
            </a:r>
            <a:r>
              <a:rPr lang="en-IN" sz="1600" dirty="0" err="1"/>
              <a:t>ModelCheckpoint</a:t>
            </a:r>
            <a:r>
              <a:rPr lang="en-IN" sz="1600" dirty="0"/>
              <a:t>(</a:t>
            </a:r>
            <a:r>
              <a:rPr lang="en-IN" sz="1600" dirty="0" err="1"/>
              <a:t>filepath</a:t>
            </a:r>
            <a:r>
              <a:rPr lang="en-IN" sz="1600" dirty="0"/>
              <a:t>='model/bilstm_weights.hdf5', verbose = 1, </a:t>
            </a:r>
            <a:r>
              <a:rPr lang="en-IN" sz="1600" dirty="0" err="1"/>
              <a:t>save_best_only</a:t>
            </a:r>
            <a:r>
              <a:rPr lang="en-IN" sz="1600" dirty="0"/>
              <a:t> = True) hist = </a:t>
            </a:r>
            <a:r>
              <a:rPr lang="en-IN" sz="1600" dirty="0" err="1"/>
              <a:t>bilstm_model.fit</a:t>
            </a:r>
            <a:r>
              <a:rPr lang="en-IN" sz="1600" dirty="0"/>
              <a:t>(</a:t>
            </a:r>
            <a:r>
              <a:rPr lang="en-IN" sz="1600" dirty="0" err="1"/>
              <a:t>X_train</a:t>
            </a:r>
            <a:r>
              <a:rPr lang="en-IN" sz="1600" dirty="0"/>
              <a:t>, </a:t>
            </a:r>
            <a:r>
              <a:rPr lang="en-IN" sz="1600" dirty="0" err="1"/>
              <a:t>y_train</a:t>
            </a:r>
            <a:r>
              <a:rPr lang="en-IN" sz="1600" dirty="0"/>
              <a:t>, </a:t>
            </a:r>
            <a:r>
              <a:rPr lang="en-IN" sz="1600" dirty="0" err="1"/>
              <a:t>batch_size</a:t>
            </a:r>
            <a:r>
              <a:rPr lang="en-IN" sz="1600" dirty="0"/>
              <a:t> = 16, epochs = 20, </a:t>
            </a:r>
          </a:p>
          <a:p>
            <a:pPr marL="0" indent="0">
              <a:buNone/>
            </a:pPr>
            <a:r>
              <a:rPr lang="en-IN" sz="1600" dirty="0" err="1"/>
              <a:t>validation_data</a:t>
            </a:r>
            <a:r>
              <a:rPr lang="en-IN" sz="1600" dirty="0"/>
              <a:t>=(</a:t>
            </a:r>
            <a:r>
              <a:rPr lang="en-IN" sz="1600" dirty="0" err="1"/>
              <a:t>X_test</a:t>
            </a:r>
            <a:r>
              <a:rPr lang="en-IN" sz="1600" dirty="0"/>
              <a:t>, </a:t>
            </a:r>
            <a:r>
              <a:rPr lang="en-IN" sz="1600" dirty="0" err="1"/>
              <a:t>y_test</a:t>
            </a:r>
            <a:r>
              <a:rPr lang="en-IN" sz="1600" dirty="0"/>
              <a:t>), callbacks=[</a:t>
            </a:r>
            <a:r>
              <a:rPr lang="en-IN" sz="1600" dirty="0" err="1"/>
              <a:t>model_check_point</a:t>
            </a:r>
            <a:r>
              <a:rPr lang="en-IN" sz="1600" dirty="0"/>
              <a:t>], verbose=1) else: </a:t>
            </a:r>
          </a:p>
          <a:p>
            <a:pPr marL="0" indent="0">
              <a:buNone/>
            </a:pPr>
            <a:r>
              <a:rPr lang="en-IN" sz="1600" dirty="0" err="1"/>
              <a:t>bilstm_model</a:t>
            </a:r>
            <a:r>
              <a:rPr lang="en-IN" sz="1600" dirty="0"/>
              <a:t> = </a:t>
            </a:r>
            <a:r>
              <a:rPr lang="en-IN" sz="1600" dirty="0" err="1"/>
              <a:t>load_model</a:t>
            </a:r>
            <a:r>
              <a:rPr lang="en-IN" sz="1600" dirty="0"/>
              <a:t>("model/bilstm_weights.hdf5") </a:t>
            </a:r>
          </a:p>
          <a:p>
            <a:pPr marL="0" indent="0">
              <a:buNone/>
            </a:pPr>
            <a:r>
              <a:rPr lang="en-IN" sz="1600" dirty="0"/>
              <a:t>predict = </a:t>
            </a:r>
            <a:r>
              <a:rPr lang="en-IN" sz="1600" dirty="0" err="1"/>
              <a:t>bilstm_model.predict</a:t>
            </a:r>
            <a:r>
              <a:rPr lang="en-IN" sz="1600" dirty="0"/>
              <a:t>(</a:t>
            </a:r>
            <a:r>
              <a:rPr lang="en-IN" sz="1600" dirty="0" err="1"/>
              <a:t>X_test</a:t>
            </a:r>
            <a:r>
              <a:rPr lang="en-IN" sz="1600" dirty="0"/>
              <a:t>) predict = </a:t>
            </a:r>
            <a:r>
              <a:rPr lang="en-IN" sz="1600" dirty="0" err="1"/>
              <a:t>np.argmax</a:t>
            </a:r>
            <a:r>
              <a:rPr lang="en-IN" sz="1600" dirty="0"/>
              <a:t>(predict, axis=1) target = </a:t>
            </a:r>
            <a:r>
              <a:rPr lang="en-IN" sz="1600" dirty="0" err="1"/>
              <a:t>np.argmax</a:t>
            </a:r>
            <a:r>
              <a:rPr lang="en-IN" sz="1600" dirty="0"/>
              <a:t>(</a:t>
            </a:r>
            <a:r>
              <a:rPr lang="en-IN" sz="1600" dirty="0" err="1"/>
              <a:t>y_test</a:t>
            </a:r>
            <a:r>
              <a:rPr lang="en-IN" sz="1600" dirty="0"/>
              <a:t>, axis=1) </a:t>
            </a:r>
          </a:p>
          <a:p>
            <a:pPr marL="0" indent="0">
              <a:buNone/>
            </a:pPr>
            <a:r>
              <a:rPr lang="en-IN" sz="1600" dirty="0" err="1"/>
              <a:t>calculateMetrics</a:t>
            </a:r>
            <a:r>
              <a:rPr lang="en-IN" sz="1600" dirty="0"/>
              <a:t>("Propose </a:t>
            </a:r>
            <a:r>
              <a:rPr lang="en-IN" sz="1600" dirty="0" err="1"/>
              <a:t>EfficientNet-BiLSTM</a:t>
            </a:r>
            <a:r>
              <a:rPr lang="en-IN" sz="1600" dirty="0"/>
              <a:t> Algorithm", predict, target) </a:t>
            </a:r>
          </a:p>
          <a:p>
            <a:pPr marL="0" indent="0">
              <a:buNone/>
            </a:pPr>
            <a:r>
              <a:rPr lang="en-IN" sz="1600" dirty="0"/>
              <a:t>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702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E5FC1-B4D4-B272-560E-4B878C1A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8" y="184354"/>
            <a:ext cx="11847870" cy="64892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dirty="0"/>
              <a:t>def </a:t>
            </a:r>
            <a:r>
              <a:rPr lang="en-IN" sz="1900" dirty="0" err="1"/>
              <a:t>meanLoss</a:t>
            </a:r>
            <a:r>
              <a:rPr lang="en-IN" sz="1900" dirty="0"/>
              <a:t>(image1, image2): difference = image1 - image2 </a:t>
            </a:r>
            <a:r>
              <a:rPr lang="en-IN" sz="1900" dirty="0" err="1"/>
              <a:t>a,b,c,d,e</a:t>
            </a:r>
            <a:r>
              <a:rPr lang="en-IN" sz="1900" dirty="0"/>
              <a:t> = </a:t>
            </a:r>
            <a:r>
              <a:rPr lang="en-IN" sz="1900" dirty="0" err="1"/>
              <a:t>difference.shape</a:t>
            </a:r>
            <a:r>
              <a:rPr lang="en-IN" sz="1900" dirty="0"/>
              <a:t> </a:t>
            </a:r>
            <a:r>
              <a:rPr lang="en-IN" sz="1900" dirty="0" err="1"/>
              <a:t>n_samples</a:t>
            </a:r>
            <a:r>
              <a:rPr lang="en-IN" sz="1900" dirty="0"/>
              <a:t> = a*b*c*d*e </a:t>
            </a:r>
            <a:r>
              <a:rPr lang="en-IN" sz="1900" dirty="0" err="1"/>
              <a:t>sq_difference</a:t>
            </a:r>
            <a:r>
              <a:rPr lang="en-IN" sz="1900" dirty="0"/>
              <a:t> = difference**2 Sum = </a:t>
            </a:r>
            <a:r>
              <a:rPr lang="en-IN" sz="1900" dirty="0" err="1"/>
              <a:t>sq_difference.sum</a:t>
            </a:r>
            <a:r>
              <a:rPr lang="en-IN" sz="1900" dirty="0"/>
              <a:t>() distance = </a:t>
            </a:r>
            <a:r>
              <a:rPr lang="en-IN" sz="1900" dirty="0" err="1"/>
              <a:t>np.sqrt</a:t>
            </a:r>
            <a:r>
              <a:rPr lang="en-IN" sz="1900" dirty="0"/>
              <a:t>(Sum) </a:t>
            </a:r>
            <a:r>
              <a:rPr lang="en-IN" sz="1900" dirty="0" err="1"/>
              <a:t>mean_distance</a:t>
            </a:r>
            <a:r>
              <a:rPr lang="en-IN" sz="1900" dirty="0"/>
              <a:t> = distance/</a:t>
            </a:r>
            <a:r>
              <a:rPr lang="en-IN" sz="1900" dirty="0" err="1"/>
              <a:t>n_samples</a:t>
            </a:r>
            <a:r>
              <a:rPr lang="en-IN" sz="1900" dirty="0"/>
              <a:t> return </a:t>
            </a:r>
            <a:r>
              <a:rPr lang="en-IN" sz="1900" dirty="0" err="1"/>
              <a:t>mean_distance</a:t>
            </a:r>
            <a:r>
              <a:rPr lang="en-IN" sz="1900" dirty="0"/>
              <a:t> </a:t>
            </a:r>
          </a:p>
          <a:p>
            <a:pPr marL="0" indent="0">
              <a:buNone/>
            </a:pPr>
            <a:r>
              <a:rPr lang="en-IN" sz="1900" dirty="0"/>
              <a:t> def predict(): </a:t>
            </a:r>
          </a:p>
          <a:p>
            <a:pPr marL="0" indent="0">
              <a:buNone/>
            </a:pPr>
            <a:r>
              <a:rPr lang="en-IN" sz="1900" dirty="0"/>
              <a:t>global </a:t>
            </a:r>
            <a:r>
              <a:rPr lang="en-IN" sz="1900" dirty="0" err="1"/>
              <a:t>content_model</a:t>
            </a:r>
            <a:r>
              <a:rPr lang="en-IN" sz="1900" dirty="0"/>
              <a:t> </a:t>
            </a:r>
            <a:r>
              <a:rPr lang="en-IN" sz="1900" dirty="0" err="1"/>
              <a:t>text.delete</a:t>
            </a:r>
            <a:r>
              <a:rPr lang="en-IN" sz="1900" dirty="0"/>
              <a:t>('1.0', END) filename = </a:t>
            </a:r>
            <a:r>
              <a:rPr lang="en-IN" sz="1900" dirty="0" err="1"/>
              <a:t>filedialog.askopenfilename</a:t>
            </a:r>
            <a:r>
              <a:rPr lang="en-IN" sz="1900" dirty="0"/>
              <a:t>(</a:t>
            </a:r>
            <a:r>
              <a:rPr lang="en-IN" sz="1900" dirty="0" err="1"/>
              <a:t>initialdir</a:t>
            </a:r>
            <a:r>
              <a:rPr lang="en-IN" sz="1900" dirty="0"/>
              <a:t>="</a:t>
            </a:r>
            <a:r>
              <a:rPr lang="en-IN" sz="1900" dirty="0" err="1"/>
              <a:t>testVideos</a:t>
            </a:r>
            <a:r>
              <a:rPr lang="en-IN" sz="1900" dirty="0"/>
              <a:t>") cap = cv2.VideoCapture(filename) print(</a:t>
            </a:r>
            <a:r>
              <a:rPr lang="en-IN" sz="1900" dirty="0" err="1"/>
              <a:t>cap.isOpened</a:t>
            </a:r>
            <a:r>
              <a:rPr lang="en-IN" sz="1900" dirty="0"/>
              <a:t>()) while </a:t>
            </a:r>
            <a:r>
              <a:rPr lang="en-IN" sz="1900" dirty="0" err="1"/>
              <a:t>cap.isOpened</a:t>
            </a:r>
            <a:r>
              <a:rPr lang="en-IN" sz="1900" dirty="0"/>
              <a:t>(): </a:t>
            </a:r>
            <a:r>
              <a:rPr lang="en-IN" sz="1900" dirty="0" err="1"/>
              <a:t>imagedump</a:t>
            </a:r>
            <a:r>
              <a:rPr lang="en-IN" sz="1900" dirty="0"/>
              <a:t>=[] </a:t>
            </a:r>
            <a:r>
              <a:rPr lang="en-IN" sz="1900" dirty="0" err="1"/>
              <a:t>ret,frame</a:t>
            </a:r>
            <a:r>
              <a:rPr lang="en-IN" sz="1900" dirty="0"/>
              <a:t>=</a:t>
            </a:r>
            <a:r>
              <a:rPr lang="en-IN" sz="1900" dirty="0" err="1"/>
              <a:t>cap.read</a:t>
            </a:r>
            <a:r>
              <a:rPr lang="en-IN" sz="1900" dirty="0"/>
              <a:t>() for </a:t>
            </a:r>
            <a:r>
              <a:rPr lang="en-IN" sz="1900" dirty="0" err="1"/>
              <a:t>i</a:t>
            </a:r>
            <a:r>
              <a:rPr lang="en-IN" sz="1900" dirty="0"/>
              <a:t> in range(10): </a:t>
            </a:r>
          </a:p>
          <a:p>
            <a:pPr marL="0" indent="0">
              <a:buNone/>
            </a:pPr>
            <a:r>
              <a:rPr lang="en-IN" sz="1900" dirty="0" err="1"/>
              <a:t>ret,frame</a:t>
            </a:r>
            <a:r>
              <a:rPr lang="en-IN" sz="1900" dirty="0"/>
              <a:t>=</a:t>
            </a:r>
            <a:r>
              <a:rPr lang="en-IN" sz="1900" dirty="0" err="1"/>
              <a:t>cap.read</a:t>
            </a:r>
            <a:r>
              <a:rPr lang="en-IN" sz="1900" dirty="0"/>
              <a:t>() if frame is not None: </a:t>
            </a:r>
          </a:p>
          <a:p>
            <a:pPr marL="0" indent="0">
              <a:buNone/>
            </a:pPr>
            <a:r>
              <a:rPr lang="en-IN" sz="1900" dirty="0"/>
              <a:t>image = </a:t>
            </a:r>
            <a:r>
              <a:rPr lang="en-IN" sz="1900" dirty="0" err="1"/>
              <a:t>imutils.resize</a:t>
            </a:r>
            <a:r>
              <a:rPr lang="en-IN" sz="1900" dirty="0"/>
              <a:t>(</a:t>
            </a:r>
            <a:r>
              <a:rPr lang="en-IN" sz="1900" dirty="0" err="1"/>
              <a:t>frame,width</a:t>
            </a:r>
            <a:r>
              <a:rPr lang="en-IN" sz="1900" dirty="0"/>
              <a:t>=700,height=600) </a:t>
            </a:r>
          </a:p>
          <a:p>
            <a:pPr marL="0" indent="0">
              <a:buNone/>
            </a:pPr>
            <a:r>
              <a:rPr lang="en-IN" sz="1900" dirty="0"/>
              <a:t>frame=cv2.resize(frame, (227,227), interpolation = cv2.INTER_AREA) </a:t>
            </a:r>
            <a:r>
              <a:rPr lang="en-IN" sz="1900" dirty="0" err="1"/>
              <a:t>gray</a:t>
            </a:r>
            <a:r>
              <a:rPr lang="en-IN" sz="1900" dirty="0"/>
              <a:t>=0.2989*frame[:,:,0]+0.5870*frame[:,:,1]+0.1140*frame[:,:,2] </a:t>
            </a:r>
            <a:r>
              <a:rPr lang="en-IN" sz="1900" dirty="0" err="1"/>
              <a:t>gray</a:t>
            </a:r>
            <a:r>
              <a:rPr lang="en-IN" sz="1900" dirty="0"/>
              <a:t>=(</a:t>
            </a:r>
            <a:r>
              <a:rPr lang="en-IN" sz="1900" dirty="0" err="1"/>
              <a:t>gray-gray.mean</a:t>
            </a:r>
            <a:r>
              <a:rPr lang="en-IN" sz="1900" dirty="0"/>
              <a:t>())/</a:t>
            </a:r>
            <a:r>
              <a:rPr lang="en-IN" sz="1900" dirty="0" err="1"/>
              <a:t>gray.std</a:t>
            </a:r>
            <a:r>
              <a:rPr lang="en-IN" sz="1900" dirty="0"/>
              <a:t>() </a:t>
            </a:r>
            <a:r>
              <a:rPr lang="en-IN" sz="1900" dirty="0" err="1"/>
              <a:t>gray</a:t>
            </a:r>
            <a:r>
              <a:rPr lang="en-IN" sz="1900" dirty="0"/>
              <a:t>=</a:t>
            </a:r>
            <a:r>
              <a:rPr lang="en-IN" sz="1900" dirty="0" err="1"/>
              <a:t>np.clip</a:t>
            </a:r>
            <a:r>
              <a:rPr lang="en-IN" sz="1900" dirty="0"/>
              <a:t>(gray,0,1) </a:t>
            </a:r>
            <a:r>
              <a:rPr lang="en-IN" sz="1900" dirty="0" err="1"/>
              <a:t>imagedump.append</a:t>
            </a:r>
            <a:r>
              <a:rPr lang="en-IN" sz="1900" dirty="0"/>
              <a:t>(</a:t>
            </a:r>
            <a:r>
              <a:rPr lang="en-IN" sz="1900" dirty="0" err="1"/>
              <a:t>gray</a:t>
            </a:r>
            <a:r>
              <a:rPr lang="en-IN" sz="1900" dirty="0"/>
              <a:t>) </a:t>
            </a:r>
          </a:p>
          <a:p>
            <a:pPr marL="0" indent="0">
              <a:buNone/>
            </a:pPr>
            <a:r>
              <a:rPr lang="en-IN" sz="1900" dirty="0" err="1"/>
              <a:t>imagedump</a:t>
            </a:r>
            <a:r>
              <a:rPr lang="en-IN" sz="1900" dirty="0"/>
              <a:t>=</a:t>
            </a:r>
            <a:r>
              <a:rPr lang="en-IN" sz="1900" dirty="0" err="1"/>
              <a:t>np.array</a:t>
            </a:r>
            <a:r>
              <a:rPr lang="en-IN" sz="1900" dirty="0"/>
              <a:t>(</a:t>
            </a:r>
            <a:r>
              <a:rPr lang="en-IN" sz="1900" dirty="0" err="1"/>
              <a:t>imagedump</a:t>
            </a:r>
            <a:r>
              <a:rPr lang="en-IN" sz="1900" dirty="0"/>
              <a:t>) </a:t>
            </a:r>
            <a:r>
              <a:rPr lang="en-IN" sz="1900" dirty="0" err="1"/>
              <a:t>imagedump.resize</a:t>
            </a:r>
            <a:r>
              <a:rPr lang="en-IN" sz="1900" dirty="0"/>
              <a:t>(227,227,10) </a:t>
            </a:r>
          </a:p>
          <a:p>
            <a:pPr marL="0" indent="0">
              <a:buNone/>
            </a:pPr>
            <a:r>
              <a:rPr lang="en-IN" sz="1900" dirty="0" err="1"/>
              <a:t>imagedump</a:t>
            </a:r>
            <a:r>
              <a:rPr lang="en-IN" sz="1900" dirty="0"/>
              <a:t>=</a:t>
            </a:r>
            <a:r>
              <a:rPr lang="en-IN" sz="1900" dirty="0" err="1"/>
              <a:t>np.expand_dims</a:t>
            </a:r>
            <a:r>
              <a:rPr lang="en-IN" sz="1900" dirty="0"/>
              <a:t>(</a:t>
            </a:r>
            <a:r>
              <a:rPr lang="en-IN" sz="1900" dirty="0" err="1"/>
              <a:t>imagedump,axis</a:t>
            </a:r>
            <a:r>
              <a:rPr lang="en-IN" sz="1900" dirty="0"/>
              <a:t>=0) </a:t>
            </a:r>
            <a:r>
              <a:rPr lang="en-IN" sz="1900" dirty="0" err="1"/>
              <a:t>imagedump</a:t>
            </a:r>
            <a:r>
              <a:rPr lang="en-IN" sz="1900" dirty="0"/>
              <a:t>=</a:t>
            </a:r>
            <a:r>
              <a:rPr lang="en-IN" sz="1900" dirty="0" err="1"/>
              <a:t>np.expand_dims</a:t>
            </a:r>
            <a:r>
              <a:rPr lang="en-IN" sz="1900" dirty="0"/>
              <a:t>(</a:t>
            </a:r>
            <a:r>
              <a:rPr lang="en-IN" sz="1900" dirty="0" err="1"/>
              <a:t>imagedump,axis</a:t>
            </a:r>
            <a:r>
              <a:rPr lang="en-IN" sz="1900" dirty="0"/>
              <a:t>=4) output=</a:t>
            </a:r>
            <a:r>
              <a:rPr lang="en-IN" sz="1900" dirty="0" err="1"/>
              <a:t>content_model.predict</a:t>
            </a:r>
            <a:r>
              <a:rPr lang="en-IN" sz="1900" dirty="0"/>
              <a:t>(</a:t>
            </a:r>
            <a:r>
              <a:rPr lang="en-IN" sz="1900" dirty="0" err="1"/>
              <a:t>imagedump</a:t>
            </a:r>
            <a:r>
              <a:rPr lang="en-IN" sz="1900" dirty="0"/>
              <a:t>) loss=</a:t>
            </a:r>
            <a:r>
              <a:rPr lang="en-IN" sz="1900" dirty="0" err="1"/>
              <a:t>meanLoss</a:t>
            </a:r>
            <a:r>
              <a:rPr lang="en-IN" sz="1900" dirty="0"/>
              <a:t>(</a:t>
            </a:r>
            <a:r>
              <a:rPr lang="en-IN" sz="1900" dirty="0" err="1"/>
              <a:t>imagedump,output</a:t>
            </a:r>
            <a:r>
              <a:rPr lang="en-IN" sz="1900" dirty="0"/>
              <a:t>) if frame is not None: </a:t>
            </a:r>
          </a:p>
          <a:p>
            <a:pPr marL="0" indent="0">
              <a:buNone/>
            </a:pPr>
            <a:r>
              <a:rPr lang="en-IN" sz="1900" dirty="0"/>
              <a:t>if </a:t>
            </a:r>
            <a:r>
              <a:rPr lang="en-IN" sz="1900" dirty="0" err="1"/>
              <a:t>frame.any</a:t>
            </a:r>
            <a:r>
              <a:rPr lang="en-IN" sz="1900" dirty="0"/>
              <a:t>()==None: </a:t>
            </a:r>
          </a:p>
          <a:p>
            <a:pPr marL="0" indent="0">
              <a:buNone/>
            </a:pPr>
            <a:r>
              <a:rPr lang="en-IN" sz="1900" dirty="0"/>
              <a:t>print("none") </a:t>
            </a:r>
          </a:p>
          <a:p>
            <a:pPr marL="0" indent="0">
              <a:buNone/>
            </a:pPr>
            <a:r>
              <a:rPr lang="en-IN" sz="1900" dirty="0"/>
              <a:t>else: </a:t>
            </a:r>
          </a:p>
          <a:p>
            <a:pPr marL="0" indent="0">
              <a:buNone/>
            </a:pPr>
            <a:r>
              <a:rPr lang="en-IN" sz="1900" dirty="0"/>
              <a:t>break </a:t>
            </a:r>
          </a:p>
          <a:p>
            <a:pPr marL="0" indent="0">
              <a:buNone/>
            </a:pPr>
            <a:r>
              <a:rPr lang="en-IN" sz="1900" dirty="0"/>
              <a:t>if cv2.waitKey(10) &amp; 0xFF==</a:t>
            </a:r>
            <a:r>
              <a:rPr lang="en-IN" sz="1900" dirty="0" err="1"/>
              <a:t>ord</a:t>
            </a:r>
            <a:r>
              <a:rPr lang="en-IN" sz="1900" dirty="0"/>
              <a:t>('q'): </a:t>
            </a:r>
          </a:p>
          <a:p>
            <a:pPr marL="0" indent="0">
              <a:buNone/>
            </a:pPr>
            <a:r>
              <a:rPr lang="en-IN" sz="1900" dirty="0"/>
              <a:t>break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159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DF30087-24D7-7DEC-47B4-B11D95EC3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06" y="219075"/>
            <a:ext cx="11837987" cy="6419850"/>
          </a:xfrm>
        </p:spPr>
        <p:txBody>
          <a:bodyPr>
            <a:normAutofit fontScale="52500" lnSpcReduction="20000"/>
          </a:bodyPr>
          <a:lstStyle/>
          <a:p>
            <a:pPr marL="0" indent="0">
              <a:buNone/>
            </a:pPr>
            <a:r>
              <a:rPr lang="en-IN" sz="3000" dirty="0"/>
              <a:t>print(str(frame)+" "+str(loss)) if loss&gt;0.00068: </a:t>
            </a:r>
          </a:p>
          <a:p>
            <a:pPr marL="0" indent="0">
              <a:buNone/>
            </a:pPr>
            <a:r>
              <a:rPr lang="en-IN" sz="3000" dirty="0"/>
              <a:t>print('Inappropriate Content') cv2.putText(</a:t>
            </a:r>
            <a:r>
              <a:rPr lang="en-IN" sz="3000" dirty="0" err="1"/>
              <a:t>image,"Inappropriate</a:t>
            </a:r>
            <a:r>
              <a:rPr lang="en-IN" sz="3000" dirty="0"/>
              <a:t> </a:t>
            </a:r>
          </a:p>
          <a:p>
            <a:pPr marL="0" indent="0">
              <a:buNone/>
            </a:pPr>
            <a:r>
              <a:rPr lang="en-IN" sz="3000" dirty="0"/>
              <a:t>Content",(100,80),cv2.FONT_HERSHEY_SIMPLEX,1.5,(0,0,255),4) else: </a:t>
            </a:r>
          </a:p>
          <a:p>
            <a:pPr marL="0" indent="0">
              <a:buNone/>
            </a:pPr>
            <a:r>
              <a:rPr lang="en-IN" sz="3000" dirty="0"/>
              <a:t>cv2.putText(</a:t>
            </a:r>
            <a:r>
              <a:rPr lang="en-IN" sz="3000" dirty="0" err="1"/>
              <a:t>image,"Safe</a:t>
            </a:r>
            <a:r>
              <a:rPr lang="en-IN" sz="3000" dirty="0"/>
              <a:t> </a:t>
            </a:r>
          </a:p>
          <a:p>
            <a:pPr marL="0" indent="0">
              <a:buNone/>
            </a:pPr>
            <a:r>
              <a:rPr lang="en-IN" sz="3000" dirty="0"/>
              <a:t>Content",(100,80),cv2.FONT_HERSHEY_SIMPLEX,1.5,(0,255,255),4) cv2.imshow("</a:t>
            </a:r>
            <a:r>
              <a:rPr lang="en-IN" sz="3000" dirty="0" err="1"/>
              <a:t>video",image</a:t>
            </a:r>
            <a:r>
              <a:rPr lang="en-IN" sz="3000" dirty="0"/>
              <a:t>) </a:t>
            </a:r>
          </a:p>
          <a:p>
            <a:pPr marL="0" indent="0">
              <a:buNone/>
            </a:pPr>
            <a:r>
              <a:rPr lang="en-IN" sz="3000" dirty="0" err="1"/>
              <a:t>cap.release</a:t>
            </a:r>
            <a:r>
              <a:rPr lang="en-IN" sz="3000" dirty="0"/>
              <a:t>() cv2.destroyAllWindows() </a:t>
            </a:r>
          </a:p>
          <a:p>
            <a:pPr marL="0" indent="0">
              <a:buNone/>
            </a:pPr>
            <a:r>
              <a:rPr lang="en-IN" sz="3000" dirty="0"/>
              <a:t> def graph(): </a:t>
            </a:r>
          </a:p>
          <a:p>
            <a:pPr marL="0" indent="0">
              <a:buNone/>
            </a:pPr>
            <a:r>
              <a:rPr lang="en-IN" sz="3000" dirty="0" err="1"/>
              <a:t>df</a:t>
            </a:r>
            <a:r>
              <a:rPr lang="en-IN" sz="3000" dirty="0"/>
              <a:t>=</a:t>
            </a:r>
            <a:r>
              <a:rPr lang="en-IN" sz="3000" dirty="0" err="1"/>
              <a:t>pd.DataFrame</a:t>
            </a:r>
            <a:r>
              <a:rPr lang="en-IN" sz="3000" dirty="0"/>
              <a:t>([['</a:t>
            </a:r>
            <a:r>
              <a:rPr lang="en-IN" sz="3000" dirty="0" err="1"/>
              <a:t>EfficientNet</a:t>
            </a:r>
            <a:r>
              <a:rPr lang="en-IN" sz="3000" dirty="0"/>
              <a:t>- </a:t>
            </a:r>
          </a:p>
          <a:p>
            <a:pPr marL="0" indent="0">
              <a:buNone/>
            </a:pPr>
            <a:r>
              <a:rPr lang="en-IN" sz="3000" dirty="0" err="1"/>
              <a:t>BiLSTM</a:t>
            </a:r>
            <a:r>
              <a:rPr lang="en-IN" sz="3000" dirty="0"/>
              <a:t>','</a:t>
            </a:r>
            <a:r>
              <a:rPr lang="en-IN" sz="3000" dirty="0" err="1"/>
              <a:t>Precision',precision</a:t>
            </a:r>
            <a:r>
              <a:rPr lang="en-IN" sz="3000" dirty="0"/>
              <a:t>[0]],['</a:t>
            </a:r>
            <a:r>
              <a:rPr lang="en-IN" sz="3000" dirty="0" err="1"/>
              <a:t>EfficientNet</a:t>
            </a:r>
            <a:r>
              <a:rPr lang="en-IN" sz="3000" dirty="0"/>
              <a:t>- </a:t>
            </a:r>
            <a:r>
              <a:rPr lang="en-IN" sz="3000" dirty="0" err="1"/>
              <a:t>BiLSTM</a:t>
            </a:r>
            <a:r>
              <a:rPr lang="en-IN" sz="3000" dirty="0"/>
              <a:t>','</a:t>
            </a:r>
            <a:r>
              <a:rPr lang="en-IN" sz="3000" dirty="0" err="1"/>
              <a:t>Recall',recall</a:t>
            </a:r>
            <a:r>
              <a:rPr lang="en-IN" sz="3000" dirty="0"/>
              <a:t>[0]],['EfficientNet-BiLSTM','F1 </a:t>
            </a:r>
          </a:p>
          <a:p>
            <a:pPr marL="0" indent="0">
              <a:buNone/>
            </a:pPr>
            <a:r>
              <a:rPr lang="en-IN" sz="3000" dirty="0"/>
              <a:t>Score',</a:t>
            </a:r>
            <a:r>
              <a:rPr lang="en-IN" sz="3000" dirty="0" err="1"/>
              <a:t>fscore</a:t>
            </a:r>
            <a:r>
              <a:rPr lang="en-IN" sz="3000" dirty="0"/>
              <a:t>[0]],['</a:t>
            </a:r>
            <a:r>
              <a:rPr lang="en-IN" sz="3000" dirty="0" err="1"/>
              <a:t>EfficientNet-BiLSTM</a:t>
            </a:r>
            <a:r>
              <a:rPr lang="en-IN" sz="3000" dirty="0"/>
              <a:t>','</a:t>
            </a:r>
            <a:r>
              <a:rPr lang="en-IN" sz="3000" dirty="0" err="1"/>
              <a:t>Accuracy',accuracy</a:t>
            </a:r>
            <a:r>
              <a:rPr lang="en-IN" sz="3000" dirty="0"/>
              <a:t>[0]], </a:t>
            </a:r>
          </a:p>
          <a:p>
            <a:pPr marL="0" indent="0">
              <a:buNone/>
            </a:pPr>
            <a:r>
              <a:rPr lang="en-IN" sz="3000" dirty="0"/>
              <a:t>['</a:t>
            </a:r>
            <a:r>
              <a:rPr lang="en-IN" sz="3000" dirty="0" err="1"/>
              <a:t>EfficientNet</a:t>
            </a:r>
            <a:r>
              <a:rPr lang="en-IN" sz="3000" dirty="0"/>
              <a:t>-</a:t>
            </a:r>
            <a:r>
              <a:rPr lang="en-IN" sz="3000" dirty="0" err="1"/>
              <a:t>SVM','Precision',precision</a:t>
            </a:r>
            <a:r>
              <a:rPr lang="en-IN" sz="3000" dirty="0"/>
              <a:t>[1]],['</a:t>
            </a:r>
            <a:r>
              <a:rPr lang="en-IN" sz="3000" dirty="0" err="1"/>
              <a:t>EfficientNet</a:t>
            </a:r>
            <a:r>
              <a:rPr lang="en-IN" sz="3000" dirty="0"/>
              <a:t>- </a:t>
            </a:r>
          </a:p>
          <a:p>
            <a:pPr marL="0" indent="0">
              <a:buNone/>
            </a:pPr>
            <a:r>
              <a:rPr lang="en-IN" sz="3000" dirty="0"/>
              <a:t>	</a:t>
            </a:r>
            <a:r>
              <a:rPr lang="en-IN" sz="3000" dirty="0" err="1"/>
              <a:t>SVM','Recall',recall</a:t>
            </a:r>
            <a:r>
              <a:rPr lang="en-IN" sz="3000" dirty="0"/>
              <a:t>[1]],['EfficientNet-SVM','F1 	Score',</a:t>
            </a:r>
            <a:r>
              <a:rPr lang="en-IN" sz="3000" dirty="0" err="1"/>
              <a:t>fscore</a:t>
            </a:r>
            <a:r>
              <a:rPr lang="en-IN" sz="3000" dirty="0"/>
              <a:t>[1]],['</a:t>
            </a:r>
            <a:r>
              <a:rPr lang="en-IN" sz="3000" dirty="0" err="1"/>
              <a:t>EfficientNet</a:t>
            </a:r>
            <a:r>
              <a:rPr lang="en-IN" sz="3000" dirty="0"/>
              <a:t>- </a:t>
            </a:r>
          </a:p>
          <a:p>
            <a:pPr marL="0" indent="0">
              <a:buNone/>
            </a:pPr>
            <a:r>
              <a:rPr lang="en-IN" sz="3000" dirty="0" err="1"/>
              <a:t>SVM','Accuracy',accuracy</a:t>
            </a:r>
            <a:r>
              <a:rPr lang="en-IN" sz="3000" dirty="0"/>
              <a:t>[1]], </a:t>
            </a:r>
          </a:p>
          <a:p>
            <a:pPr marL="0" indent="0">
              <a:buNone/>
            </a:pPr>
            <a:r>
              <a:rPr lang="en-IN" sz="3000" dirty="0"/>
              <a:t>['</a:t>
            </a:r>
            <a:r>
              <a:rPr lang="en-IN" sz="3000" dirty="0" err="1"/>
              <a:t>EfficientNet</a:t>
            </a:r>
            <a:r>
              <a:rPr lang="en-IN" sz="3000" dirty="0"/>
              <a:t>-</a:t>
            </a:r>
            <a:r>
              <a:rPr lang="en-IN" sz="3000" dirty="0" err="1"/>
              <a:t>RFC','Precision',precision</a:t>
            </a:r>
            <a:r>
              <a:rPr lang="en-IN" sz="3000" dirty="0"/>
              <a:t>[2]],['</a:t>
            </a:r>
            <a:r>
              <a:rPr lang="en-IN" sz="3000" dirty="0" err="1"/>
              <a:t>EfficientNet</a:t>
            </a:r>
            <a:r>
              <a:rPr lang="en-IN" sz="3000" dirty="0"/>
              <a:t>- </a:t>
            </a:r>
            <a:r>
              <a:rPr lang="en-IN" sz="3000" dirty="0" err="1"/>
              <a:t>RFC','Recall',recall</a:t>
            </a:r>
            <a:r>
              <a:rPr lang="en-IN" sz="3000" dirty="0"/>
              <a:t>[2]],['EfficientNet-RFC','F1-score',fscore[2]],['</a:t>
            </a:r>
            <a:r>
              <a:rPr lang="en-IN" sz="3000" dirty="0" err="1"/>
              <a:t>EfficientNet</a:t>
            </a:r>
            <a:r>
              <a:rPr lang="en-IN" sz="3000" dirty="0"/>
              <a:t>- </a:t>
            </a:r>
          </a:p>
          <a:p>
            <a:pPr marL="0" indent="0">
              <a:buNone/>
            </a:pPr>
            <a:r>
              <a:rPr lang="en-IN" sz="3000" dirty="0" err="1"/>
              <a:t>RFC','Accuracy',accuracy</a:t>
            </a:r>
            <a:r>
              <a:rPr lang="en-IN" sz="3000" dirty="0"/>
              <a:t>[2]]], </a:t>
            </a:r>
          </a:p>
          <a:p>
            <a:pPr marL="0" indent="0">
              <a:buNone/>
            </a:pPr>
            <a:r>
              <a:rPr lang="en-IN" sz="3000" dirty="0"/>
              <a:t>columns=['</a:t>
            </a:r>
            <a:r>
              <a:rPr lang="en-IN" sz="3000" dirty="0" err="1"/>
              <a:t>Parameters','Algorithms','Value</a:t>
            </a:r>
            <a:r>
              <a:rPr lang="en-IN" sz="3000" dirty="0"/>
              <a:t>']) </a:t>
            </a:r>
          </a:p>
          <a:p>
            <a:pPr marL="0" indent="0">
              <a:buNone/>
            </a:pPr>
            <a:r>
              <a:rPr lang="en-IN" sz="3000" dirty="0"/>
              <a:t> </a:t>
            </a:r>
          </a:p>
          <a:p>
            <a:pPr marL="0" indent="0">
              <a:buNone/>
            </a:pPr>
            <a:r>
              <a:rPr lang="en-IN" sz="3000" dirty="0"/>
              <a:t># Using </a:t>
            </a:r>
            <a:r>
              <a:rPr lang="en-IN" sz="3000" dirty="0" err="1"/>
              <a:t>pivot_table</a:t>
            </a:r>
            <a:r>
              <a:rPr lang="en-IN" sz="3000" dirty="0"/>
              <a:t> for aggregation </a:t>
            </a:r>
          </a:p>
          <a:p>
            <a:pPr marL="0" indent="0">
              <a:buNone/>
            </a:pPr>
            <a:r>
              <a:rPr lang="en-IN" sz="3000" dirty="0"/>
              <a:t>	</a:t>
            </a:r>
            <a:r>
              <a:rPr lang="en-IN" sz="3000" dirty="0" err="1"/>
              <a:t>df.pivot_table</a:t>
            </a:r>
            <a:r>
              <a:rPr lang="en-IN" sz="3000" dirty="0"/>
              <a:t>(index="Parameters", columns="Algorithms", values="Value", </a:t>
            </a:r>
          </a:p>
          <a:p>
            <a:pPr marL="0" indent="0">
              <a:buNone/>
            </a:pPr>
            <a:r>
              <a:rPr lang="en-IN" sz="3000" dirty="0" err="1"/>
              <a:t>aggfunc</a:t>
            </a:r>
            <a:r>
              <a:rPr lang="en-IN" sz="3000" dirty="0"/>
              <a:t>="mean").plot(kind='bar') </a:t>
            </a:r>
          </a:p>
          <a:p>
            <a:pPr marL="0" indent="0">
              <a:buNone/>
            </a:pPr>
            <a:r>
              <a:rPr lang="en-IN" sz="3000" dirty="0"/>
              <a:t> </a:t>
            </a:r>
            <a:r>
              <a:rPr lang="en-IN" sz="3000" dirty="0" err="1"/>
              <a:t>plt.show</a:t>
            </a:r>
            <a:r>
              <a:rPr lang="en-IN" sz="3000" dirty="0"/>
              <a:t>()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974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1AADD-D880-6E91-DAFB-EB15CBCD9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245806"/>
            <a:ext cx="11838039" cy="64204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/>
              <a:t>def close(): </a:t>
            </a:r>
            <a:r>
              <a:rPr lang="en-IN" sz="1600" dirty="0" err="1"/>
              <a:t>main.destroy</a:t>
            </a:r>
            <a:r>
              <a:rPr lang="en-IN" sz="1600" dirty="0"/>
              <a:t>() </a:t>
            </a:r>
          </a:p>
          <a:p>
            <a:pPr marL="0" indent="0">
              <a:buNone/>
            </a:pPr>
            <a:r>
              <a:rPr lang="en-IN" sz="1600" dirty="0"/>
              <a:t> font = ('times', 14, 'bold') </a:t>
            </a:r>
          </a:p>
          <a:p>
            <a:pPr marL="0" indent="0">
              <a:buNone/>
            </a:pPr>
            <a:r>
              <a:rPr lang="en-IN" sz="1600" dirty="0"/>
              <a:t>title = Label(main, text='A Deep Learning-Based Approach for Inappropriate Content Detection and Classification of YouTube Videos') </a:t>
            </a:r>
            <a:r>
              <a:rPr lang="en-IN" sz="1600" dirty="0" err="1"/>
              <a:t>title.config</a:t>
            </a:r>
            <a:r>
              <a:rPr lang="en-IN" sz="1600" dirty="0"/>
              <a:t>(</a:t>
            </a:r>
            <a:r>
              <a:rPr lang="en-IN" sz="1600" dirty="0" err="1"/>
              <a:t>bg</a:t>
            </a:r>
            <a:r>
              <a:rPr lang="en-IN" sz="1600" dirty="0"/>
              <a:t>='DarkGoldenrod1', </a:t>
            </a:r>
            <a:r>
              <a:rPr lang="en-IN" sz="1600" dirty="0" err="1"/>
              <a:t>fg</a:t>
            </a:r>
            <a:r>
              <a:rPr lang="en-IN" sz="1600" dirty="0"/>
              <a:t>='black') </a:t>
            </a:r>
            <a:r>
              <a:rPr lang="en-IN" sz="1600" dirty="0" err="1"/>
              <a:t>title.config</a:t>
            </a:r>
            <a:r>
              <a:rPr lang="en-IN" sz="1600" dirty="0"/>
              <a:t>(font=font) </a:t>
            </a:r>
            <a:r>
              <a:rPr lang="en-IN" sz="1600" dirty="0" err="1"/>
              <a:t>title.config</a:t>
            </a:r>
            <a:r>
              <a:rPr lang="en-IN" sz="1600" dirty="0"/>
              <a:t>(height=3, width=120) </a:t>
            </a:r>
            <a:r>
              <a:rPr lang="en-IN" sz="1600" dirty="0" err="1"/>
              <a:t>title.place</a:t>
            </a:r>
            <a:r>
              <a:rPr lang="en-IN" sz="1600" dirty="0"/>
              <a:t>(x=5,y=5) </a:t>
            </a:r>
          </a:p>
          <a:p>
            <a:pPr marL="0" indent="0">
              <a:buNone/>
            </a:pPr>
            <a:r>
              <a:rPr lang="en-IN" sz="1600" dirty="0"/>
              <a:t> font1 = ('times', 13, 'bold') 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uploadButton</a:t>
            </a:r>
            <a:r>
              <a:rPr lang="en-IN" sz="1600" dirty="0"/>
              <a:t> = Button(main, text="Upload </a:t>
            </a:r>
            <a:r>
              <a:rPr lang="en-IN" sz="1600" dirty="0" err="1"/>
              <a:t>Youtube</a:t>
            </a:r>
            <a:r>
              <a:rPr lang="en-IN" sz="1600" dirty="0"/>
              <a:t> Normal &amp; Inappropriate Content Dataset", command=</a:t>
            </a:r>
            <a:r>
              <a:rPr lang="en-IN" sz="1600" dirty="0" err="1"/>
              <a:t>uploadDataset</a:t>
            </a:r>
            <a:r>
              <a:rPr lang="en-IN" sz="1600" dirty="0"/>
              <a:t>) </a:t>
            </a:r>
            <a:r>
              <a:rPr lang="en-IN" sz="1600" dirty="0" err="1"/>
              <a:t>uploadButton.place</a:t>
            </a:r>
            <a:r>
              <a:rPr lang="en-IN" sz="1600" dirty="0"/>
              <a:t>(x=50,y=100) </a:t>
            </a:r>
          </a:p>
          <a:p>
            <a:pPr marL="0" indent="0">
              <a:buNone/>
            </a:pPr>
            <a:r>
              <a:rPr lang="en-IN" sz="1600" dirty="0" err="1"/>
              <a:t>uploadButton.config</a:t>
            </a:r>
            <a:r>
              <a:rPr lang="en-IN" sz="1600" dirty="0"/>
              <a:t>(font=font1) 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pathlabel</a:t>
            </a:r>
            <a:r>
              <a:rPr lang="en-IN" sz="1600" dirty="0"/>
              <a:t> = Label(main) </a:t>
            </a:r>
          </a:p>
          <a:p>
            <a:pPr marL="0" indent="0">
              <a:buNone/>
            </a:pPr>
            <a:r>
              <a:rPr lang="en-IN" sz="1600" dirty="0" err="1"/>
              <a:t>pathlabel.config</a:t>
            </a:r>
            <a:r>
              <a:rPr lang="en-IN" sz="1600" dirty="0"/>
              <a:t>(</a:t>
            </a:r>
            <a:r>
              <a:rPr lang="en-IN" sz="1600" dirty="0" err="1"/>
              <a:t>bg</a:t>
            </a:r>
            <a:r>
              <a:rPr lang="en-IN" sz="1600" dirty="0"/>
              <a:t>='brown', </a:t>
            </a:r>
            <a:r>
              <a:rPr lang="en-IN" sz="1600" dirty="0" err="1"/>
              <a:t>fg</a:t>
            </a:r>
            <a:r>
              <a:rPr lang="en-IN" sz="1600" dirty="0"/>
              <a:t>='white') </a:t>
            </a:r>
            <a:r>
              <a:rPr lang="en-IN" sz="1600" dirty="0" err="1"/>
              <a:t>pathlabel.config</a:t>
            </a:r>
            <a:r>
              <a:rPr lang="en-IN" sz="1600" dirty="0"/>
              <a:t>(font=font1) </a:t>
            </a:r>
            <a:r>
              <a:rPr lang="en-IN" sz="1600" dirty="0" err="1"/>
              <a:t>pathlabel.place</a:t>
            </a:r>
            <a:r>
              <a:rPr lang="en-IN" sz="1600" dirty="0"/>
              <a:t>(x=560,y=100) 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preprocessButton</a:t>
            </a:r>
            <a:r>
              <a:rPr lang="en-IN" sz="1600" dirty="0"/>
              <a:t> = Button(main, text="Dataset Preprocessing", command=</a:t>
            </a:r>
            <a:r>
              <a:rPr lang="en-IN" sz="1600" dirty="0" err="1"/>
              <a:t>preprocessDataset</a:t>
            </a:r>
            <a:r>
              <a:rPr lang="en-IN" sz="1600" dirty="0"/>
              <a:t>) </a:t>
            </a:r>
            <a:r>
              <a:rPr lang="en-IN" sz="1600" dirty="0" err="1"/>
              <a:t>preprocessButton.place</a:t>
            </a:r>
            <a:r>
              <a:rPr lang="en-IN" sz="1600" dirty="0"/>
              <a:t>(x=50,y=150) </a:t>
            </a:r>
            <a:r>
              <a:rPr lang="en-IN" sz="1600" dirty="0" err="1"/>
              <a:t>preprocessButton.config</a:t>
            </a:r>
            <a:r>
              <a:rPr lang="en-IN" sz="1600" dirty="0"/>
              <a:t>(font=font1) 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svmButton</a:t>
            </a:r>
            <a:r>
              <a:rPr lang="en-IN" sz="1600" dirty="0"/>
              <a:t> = Button(main, text="Generate &amp; Load </a:t>
            </a:r>
            <a:r>
              <a:rPr lang="en-IN" sz="1600" dirty="0" err="1"/>
              <a:t>EfficientNet</a:t>
            </a:r>
            <a:r>
              <a:rPr lang="en-IN" sz="1600" dirty="0"/>
              <a:t>-SVM Model", command=</a:t>
            </a:r>
            <a:r>
              <a:rPr lang="en-IN" sz="1600" dirty="0" err="1"/>
              <a:t>runExistingSVM</a:t>
            </a:r>
            <a:r>
              <a:rPr lang="en-IN" sz="1600" dirty="0"/>
              <a:t>) </a:t>
            </a:r>
            <a:r>
              <a:rPr lang="en-IN" sz="1600" dirty="0" err="1"/>
              <a:t>svmButton.place</a:t>
            </a:r>
            <a:r>
              <a:rPr lang="en-IN" sz="1600" dirty="0"/>
              <a:t>(x=50,y=250) </a:t>
            </a:r>
            <a:r>
              <a:rPr lang="en-IN" sz="1600" dirty="0" err="1"/>
              <a:t>svmButton.config</a:t>
            </a:r>
            <a:r>
              <a:rPr lang="en-IN" sz="1600" dirty="0"/>
              <a:t>(font=font1) 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rfButton</a:t>
            </a:r>
            <a:r>
              <a:rPr lang="en-IN" sz="1600" dirty="0"/>
              <a:t> = Button(main, text="Generate &amp; Load </a:t>
            </a:r>
            <a:r>
              <a:rPr lang="en-IN" sz="1600" dirty="0" err="1"/>
              <a:t>EfficientNet</a:t>
            </a:r>
            <a:r>
              <a:rPr lang="en-IN" sz="1600" dirty="0"/>
              <a:t>-RF Model", command=rf) </a:t>
            </a:r>
            <a:r>
              <a:rPr lang="en-IN" sz="1600" dirty="0" err="1"/>
              <a:t>rfButton.place</a:t>
            </a:r>
            <a:r>
              <a:rPr lang="en-IN" sz="1600" dirty="0"/>
              <a:t>(x=50,y=300) </a:t>
            </a:r>
            <a:r>
              <a:rPr lang="en-IN" sz="1600" dirty="0" err="1"/>
              <a:t>rfButton.config</a:t>
            </a:r>
            <a:r>
              <a:rPr lang="en-IN" sz="1600" dirty="0"/>
              <a:t>(font=font1) </a:t>
            </a:r>
          </a:p>
          <a:p>
            <a:pPr marL="0" indent="0">
              <a:buNone/>
            </a:pPr>
            <a:r>
              <a:rPr lang="en-IN" sz="1600" dirty="0" err="1"/>
              <a:t>proposeButton</a:t>
            </a:r>
            <a:r>
              <a:rPr lang="en-IN" sz="1600" dirty="0"/>
              <a:t> = Button(main, text="Generate &amp; Load Propose DL-BILSTM-GRU Model", command=</a:t>
            </a:r>
            <a:r>
              <a:rPr lang="en-IN" sz="1600" dirty="0" err="1"/>
              <a:t>runProposeAlgorithms</a:t>
            </a:r>
            <a:r>
              <a:rPr lang="en-IN" sz="1600" dirty="0"/>
              <a:t>) </a:t>
            </a:r>
            <a:r>
              <a:rPr lang="en-IN" sz="1600" dirty="0" err="1"/>
              <a:t>proposeButton.place</a:t>
            </a:r>
            <a:r>
              <a:rPr lang="en-IN" sz="1600" dirty="0"/>
              <a:t>(x=50,y=200) </a:t>
            </a:r>
            <a:r>
              <a:rPr lang="en-IN" sz="1600" dirty="0" err="1"/>
              <a:t>proposeButton.config</a:t>
            </a:r>
            <a:r>
              <a:rPr lang="en-IN" sz="1600" dirty="0"/>
              <a:t>(font=font1) 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graphButton</a:t>
            </a:r>
            <a:r>
              <a:rPr lang="en-IN" sz="1600" dirty="0"/>
              <a:t> = Button(main, text="Comparison Graph", command=graph) </a:t>
            </a:r>
            <a:r>
              <a:rPr lang="en-IN" sz="1600" dirty="0" err="1"/>
              <a:t>graphButton.place</a:t>
            </a:r>
            <a:r>
              <a:rPr lang="en-IN" sz="1600" dirty="0"/>
              <a:t>(x=50,y=350) </a:t>
            </a:r>
            <a:r>
              <a:rPr lang="en-IN" sz="1600" dirty="0" err="1"/>
              <a:t>graphButton.config</a:t>
            </a:r>
            <a:r>
              <a:rPr lang="en-IN" sz="1600" dirty="0"/>
              <a:t>(font=font1) </a:t>
            </a:r>
          </a:p>
          <a:p>
            <a:pPr marL="0" indent="0">
              <a:buNone/>
            </a:pPr>
            <a:r>
              <a:rPr lang="en-IN" sz="1600" dirty="0"/>
              <a:t>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2128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7DAA-632A-9D3A-C783-C9CECD2C9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294968"/>
            <a:ext cx="11631562" cy="63614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 err="1"/>
              <a:t>predictButton</a:t>
            </a:r>
            <a:r>
              <a:rPr lang="en-IN" sz="1600" dirty="0"/>
              <a:t> = Button(main, text="Inappropriate Content Prediction from Test </a:t>
            </a:r>
          </a:p>
          <a:p>
            <a:pPr marL="0" indent="0">
              <a:buNone/>
            </a:pPr>
            <a:r>
              <a:rPr lang="en-IN" sz="1600" dirty="0"/>
              <a:t>Video", command=predict) </a:t>
            </a:r>
          </a:p>
          <a:p>
            <a:pPr marL="0" indent="0">
              <a:buNone/>
            </a:pPr>
            <a:r>
              <a:rPr lang="en-IN" sz="1600" dirty="0" err="1"/>
              <a:t>predictButton.place</a:t>
            </a:r>
            <a:r>
              <a:rPr lang="en-IN" sz="1600" dirty="0"/>
              <a:t>(x=50,y=400) </a:t>
            </a:r>
            <a:r>
              <a:rPr lang="en-IN" sz="1600" dirty="0" err="1"/>
              <a:t>predictButton.config</a:t>
            </a:r>
            <a:r>
              <a:rPr lang="en-IN" sz="1600" dirty="0"/>
              <a:t>(font=font1) 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exitButton</a:t>
            </a:r>
            <a:r>
              <a:rPr lang="en-IN" sz="1600" dirty="0"/>
              <a:t> = Button(main, text="Exit", command=close) </a:t>
            </a:r>
            <a:r>
              <a:rPr lang="en-IN" sz="1600" dirty="0" err="1"/>
              <a:t>exitButton.place</a:t>
            </a:r>
            <a:r>
              <a:rPr lang="en-IN" sz="1600" dirty="0"/>
              <a:t>(x=50,y=450) </a:t>
            </a:r>
            <a:r>
              <a:rPr lang="en-IN" sz="1600" dirty="0" err="1"/>
              <a:t>exitButton.config</a:t>
            </a:r>
            <a:r>
              <a:rPr lang="en-IN" sz="1600" dirty="0"/>
              <a:t>(font=font1) </a:t>
            </a:r>
          </a:p>
          <a:p>
            <a:pPr marL="0" indent="0">
              <a:buNone/>
            </a:pPr>
            <a:r>
              <a:rPr lang="en-IN" sz="1600" dirty="0"/>
              <a:t>font1 = ('times', 12, 'bold') text=Text(</a:t>
            </a:r>
            <a:r>
              <a:rPr lang="en-IN" sz="1600" dirty="0" err="1"/>
              <a:t>main,height</a:t>
            </a:r>
            <a:r>
              <a:rPr lang="en-IN" sz="1600" dirty="0"/>
              <a:t>=25,width=90) scroll=Scrollbar(text) </a:t>
            </a:r>
          </a:p>
          <a:p>
            <a:pPr marL="0" indent="0">
              <a:buNone/>
            </a:pPr>
            <a:r>
              <a:rPr lang="en-IN" sz="1600" dirty="0" err="1"/>
              <a:t>text.configure</a:t>
            </a:r>
            <a:r>
              <a:rPr lang="en-IN" sz="1600" dirty="0"/>
              <a:t>(</a:t>
            </a:r>
            <a:r>
              <a:rPr lang="en-IN" sz="1600" dirty="0" err="1"/>
              <a:t>yscrollcommand</a:t>
            </a:r>
            <a:r>
              <a:rPr lang="en-IN" sz="1600" dirty="0"/>
              <a:t>=</a:t>
            </a:r>
            <a:r>
              <a:rPr lang="en-IN" sz="1600" dirty="0" err="1"/>
              <a:t>scroll.set</a:t>
            </a:r>
            <a:r>
              <a:rPr lang="en-IN" sz="1600" dirty="0"/>
              <a:t>) </a:t>
            </a:r>
            <a:r>
              <a:rPr lang="en-IN" sz="1600" dirty="0" err="1"/>
              <a:t>text.place</a:t>
            </a:r>
            <a:r>
              <a:rPr lang="en-IN" sz="1600" dirty="0"/>
              <a:t>(x=500,y=150) </a:t>
            </a:r>
            <a:r>
              <a:rPr lang="en-IN" sz="1600" dirty="0" err="1"/>
              <a:t>text.config</a:t>
            </a:r>
            <a:r>
              <a:rPr lang="en-IN" sz="1600" dirty="0"/>
              <a:t>(font=font1) 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main.config</a:t>
            </a:r>
            <a:r>
              <a:rPr lang="en-IN" sz="1600" dirty="0"/>
              <a:t>(</a:t>
            </a:r>
            <a:r>
              <a:rPr lang="en-IN" sz="1600" dirty="0" err="1"/>
              <a:t>bg</a:t>
            </a:r>
            <a:r>
              <a:rPr lang="en-IN" sz="1600" dirty="0"/>
              <a:t>='LightSteelBlue1') </a:t>
            </a:r>
            <a:r>
              <a:rPr lang="en-IN" sz="1600" dirty="0" err="1"/>
              <a:t>main.mainloop</a:t>
            </a:r>
            <a:r>
              <a:rPr lang="en-IN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76764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EB55-6179-DFA9-F198-2495D8F4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32" y="237305"/>
            <a:ext cx="10515600" cy="63776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 :</a:t>
            </a:r>
            <a:endParaRPr lang="en-IN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8E0839-50F2-3BB8-A2EF-35EA676283A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432" y="875069"/>
            <a:ext cx="10245637" cy="543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0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57ACE4-4778-1D41-895F-123888FB76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22483" y="0"/>
            <a:ext cx="9144000" cy="3410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D3B9FB-DFA8-C33F-677C-5DDD3FFE88E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6641" y="3271345"/>
            <a:ext cx="7653414" cy="378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58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FA1F83-797F-82C8-8F3D-BBEA427AC2E4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24599" y="1450428"/>
            <a:ext cx="5543857" cy="4513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0906ED-28E9-D823-B149-477E6017DAA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3543" y="1450428"/>
            <a:ext cx="5543857" cy="451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06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802B-C871-0699-F7DC-97F75B076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732" y="520514"/>
            <a:ext cx="10515600" cy="1325563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D334DA-C648-1708-2397-6842EB5AC1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4840" y="1183296"/>
            <a:ext cx="1055449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improves web security significantly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both known and unknown attacks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scalable and efficient solution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modern cybersecurity systems </a:t>
            </a:r>
          </a:p>
        </p:txBody>
      </p:sp>
    </p:spTree>
    <p:extLst>
      <p:ext uri="{BB962C8B-B14F-4D97-AF65-F5344CB8AC3E}">
        <p14:creationId xmlns:p14="http://schemas.microsoft.com/office/powerpoint/2010/main" val="1320213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DCD52E-7494-953F-9275-C95A046ED5DA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8372" y="1954924"/>
            <a:ext cx="5641428" cy="3925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9F3AF6-D02C-8F44-B8C1-A2EC035EDDD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97245" y="1954924"/>
            <a:ext cx="5731510" cy="418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3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70A0-C07A-4D30-6C50-B99BCC1C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F8A901-C250-84D1-5BF1-D4CE5E2FF0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027906"/>
            <a:ext cx="947727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deployment in live environments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cloud and IDS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Explainable AI (XAI)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of advanced and zero-day attacks </a:t>
            </a:r>
          </a:p>
        </p:txBody>
      </p:sp>
    </p:spTree>
    <p:extLst>
      <p:ext uri="{BB962C8B-B14F-4D97-AF65-F5344CB8AC3E}">
        <p14:creationId xmlns:p14="http://schemas.microsoft.com/office/powerpoint/2010/main" val="3698178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B992-6BD6-2BAC-15F6-9540E3F9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29" y="243205"/>
            <a:ext cx="10515600" cy="1325563"/>
          </a:xfrm>
        </p:spPr>
        <p:txBody>
          <a:bodyPr/>
          <a:lstStyle/>
          <a:p>
            <a:r>
              <a:rPr lang="en-IN" b="1" dirty="0"/>
              <a:t>References</a:t>
            </a:r>
            <a:r>
              <a:rPr lang="en-IN" dirty="0"/>
              <a:t>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130085-A2C4-F16E-7DFE-3620C9FACF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5329" y="1120676"/>
            <a:ext cx="112213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papers on Deep Learning in Cybersecurity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Studies on Web Attack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IDS and Machine Learning research articles </a:t>
            </a:r>
          </a:p>
        </p:txBody>
      </p:sp>
    </p:spTree>
    <p:extLst>
      <p:ext uri="{BB962C8B-B14F-4D97-AF65-F5344CB8AC3E}">
        <p14:creationId xmlns:p14="http://schemas.microsoft.com/office/powerpoint/2010/main" val="3245977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3889</Words>
  <Application>Microsoft Office PowerPoint</Application>
  <PresentationFormat>Widescreen</PresentationFormat>
  <Paragraphs>275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Times New Roman</vt:lpstr>
      <vt:lpstr>Office Theme</vt:lpstr>
      <vt:lpstr>CMR TECHNICAL CAMPUS</vt:lpstr>
      <vt:lpstr>Introduction : </vt:lpstr>
      <vt:lpstr>Abstract :</vt:lpstr>
      <vt:lpstr>Existing Systems :</vt:lpstr>
      <vt:lpstr>Disadvantages:</vt:lpstr>
      <vt:lpstr>Proposed System :</vt:lpstr>
      <vt:lpstr>Problem Statement :</vt:lpstr>
      <vt:lpstr>Advantages :</vt:lpstr>
      <vt:lpstr>Hardware Requirements :</vt:lpstr>
      <vt:lpstr>Novelty of the Project</vt:lpstr>
      <vt:lpstr>Modules:</vt:lpstr>
      <vt:lpstr>Architecture Modules :</vt:lpstr>
      <vt:lpstr>UML Diagram :</vt:lpstr>
      <vt:lpstr> sequence diagram</vt:lpstr>
      <vt:lpstr>Activity Diagram </vt:lpstr>
      <vt:lpstr>PowerPoint Presentation</vt:lpstr>
      <vt:lpstr>PowerPoint Presentation</vt:lpstr>
      <vt:lpstr>Source code: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 :</vt:lpstr>
      <vt:lpstr>PowerPoint Presentation</vt:lpstr>
      <vt:lpstr>PowerPoint Presentation</vt:lpstr>
      <vt:lpstr>Conclusion</vt:lpstr>
      <vt:lpstr>PowerPoint Presentation</vt:lpstr>
      <vt:lpstr>Future Enhancements</vt:lpstr>
      <vt:lpstr>References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pendyalapranavi@gmail.com</dc:creator>
  <cp:lastModifiedBy>pendyalapranavi@gmail.com</cp:lastModifiedBy>
  <cp:revision>5</cp:revision>
  <dcterms:created xsi:type="dcterms:W3CDTF">2026-03-26T13:25:13Z</dcterms:created>
  <dcterms:modified xsi:type="dcterms:W3CDTF">2026-03-28T03:29:24Z</dcterms:modified>
</cp:coreProperties>
</file>